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Play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124e332d2_2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f124e332d2_2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5" name="Google Shape;55;g3f124e332d2_2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124e332d2_2_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g3f124e332d2_2_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5" name="Google Shape;115;g3f124e332d2_2_6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124e332d2_2_1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g3f124e332d2_2_1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7" name="Google Shape;177;g3f124e332d2_2_1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124e332d2_2_18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f124e332d2_2_18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3" name="Google Shape;243;g3f124e332d2_2_18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124e332d2_2_2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g3f124e332d2_2_2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2" name="Google Shape;302;g3f124e332d2_2_2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500063" y="385763"/>
            <a:ext cx="5429250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rgbClr val="10231D"/>
                </a:solidFill>
                <a:latin typeface="Play"/>
                <a:ea typeface="Play"/>
                <a:cs typeface="Play"/>
                <a:sym typeface="Play"/>
              </a:rPr>
              <a:t>テニスプラザ尼崎｜社内判断用 3プラン比較</a:t>
            </a:r>
            <a:endParaRPr sz="1100"/>
          </a:p>
        </p:txBody>
      </p:sp>
      <p:sp>
        <p:nvSpPr>
          <p:cNvPr id="58" name="Google Shape;58;p15"/>
          <p:cNvSpPr/>
          <p:nvPr/>
        </p:nvSpPr>
        <p:spPr>
          <a:xfrm>
            <a:off x="500063" y="657225"/>
            <a:ext cx="664368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目的・制作範囲・判断軸を並べ、どの提案を先方に出すかを社内で判断する</a:t>
            </a:r>
            <a:endParaRPr sz="1100"/>
          </a:p>
        </p:txBody>
      </p:sp>
      <p:sp>
        <p:nvSpPr>
          <p:cNvPr id="59" name="Google Shape;59;p15"/>
          <p:cNvSpPr/>
          <p:nvPr/>
        </p:nvSpPr>
        <p:spPr>
          <a:xfrm>
            <a:off x="7072313" y="471488"/>
            <a:ext cx="150018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1/5｜先方提示前の検討メモ</a:t>
            </a:r>
            <a:endParaRPr sz="1100"/>
          </a:p>
        </p:txBody>
      </p:sp>
      <p:sp>
        <p:nvSpPr>
          <p:cNvPr id="60" name="Google Shape;60;p15"/>
          <p:cNvSpPr/>
          <p:nvPr/>
        </p:nvSpPr>
        <p:spPr>
          <a:xfrm>
            <a:off x="521494" y="964406"/>
            <a:ext cx="2443163" cy="3000375"/>
          </a:xfrm>
          <a:prstGeom prst="rect">
            <a:avLst/>
          </a:prstGeom>
          <a:solidFill>
            <a:srgbClr val="FFFFFF"/>
          </a:solidFill>
          <a:ln cap="flat" cmpd="sng" w="1047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521494" y="964406"/>
            <a:ext cx="57150" cy="3000375"/>
          </a:xfrm>
          <a:prstGeom prst="rect">
            <a:avLst/>
          </a:prstGeom>
          <a:solidFill>
            <a:srgbClr val="0A8B7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721519" y="1221581"/>
            <a:ext cx="2043113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A8B72"/>
                </a:solidFill>
                <a:latin typeface="Arial"/>
                <a:ea typeface="Arial"/>
                <a:cs typeface="Arial"/>
                <a:sym typeface="Arial"/>
              </a:rPr>
              <a:t>PLAN A｜まず見える化</a:t>
            </a:r>
            <a:endParaRPr sz="1100"/>
          </a:p>
        </p:txBody>
      </p:sp>
      <p:sp>
        <p:nvSpPr>
          <p:cNvPr id="63" name="Google Shape;63;p15"/>
          <p:cNvSpPr/>
          <p:nvPr/>
        </p:nvSpPr>
        <p:spPr>
          <a:xfrm>
            <a:off x="721519" y="1493044"/>
            <a:ext cx="2043113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10231D"/>
                </a:solidFill>
                <a:latin typeface="Play"/>
                <a:ea typeface="Play"/>
                <a:cs typeface="Play"/>
                <a:sym typeface="Play"/>
              </a:rPr>
              <a:t>計測・予約導線整備</a:t>
            </a:r>
            <a:endParaRPr sz="1100"/>
          </a:p>
        </p:txBody>
      </p:sp>
      <p:sp>
        <p:nvSpPr>
          <p:cNvPr id="64" name="Google Shape;64;p15"/>
          <p:cNvSpPr/>
          <p:nvPr/>
        </p:nvSpPr>
        <p:spPr>
          <a:xfrm>
            <a:off x="721519" y="1807369"/>
            <a:ext cx="2043113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A8B72"/>
                </a:solidFill>
                <a:latin typeface="Play"/>
                <a:ea typeface="Play"/>
                <a:cs typeface="Play"/>
                <a:sym typeface="Play"/>
              </a:rPr>
              <a:t>30〜40万円</a:t>
            </a:r>
            <a:endParaRPr sz="1100"/>
          </a:p>
        </p:txBody>
      </p:sp>
      <p:sp>
        <p:nvSpPr>
          <p:cNvPr id="65" name="Google Shape;65;p15"/>
          <p:cNvSpPr/>
          <p:nvPr/>
        </p:nvSpPr>
        <p:spPr>
          <a:xfrm>
            <a:off x="721525" y="2107400"/>
            <a:ext cx="2171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HPが効いているかを判断できる土壌を作る</a:t>
            </a:r>
            <a:endParaRPr sz="1100"/>
          </a:p>
        </p:txBody>
      </p:sp>
      <p:sp>
        <p:nvSpPr>
          <p:cNvPr id="66" name="Google Shape;66;p15"/>
          <p:cNvSpPr/>
          <p:nvPr/>
        </p:nvSpPr>
        <p:spPr>
          <a:xfrm>
            <a:off x="721519" y="2393156"/>
            <a:ext cx="2043113" cy="14288"/>
          </a:xfrm>
          <a:prstGeom prst="rect">
            <a:avLst/>
          </a:prstGeom>
          <a:solidFill>
            <a:srgbClr val="D7E1D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721519" y="2550319"/>
            <a:ext cx="2043113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検討論点</a:t>
            </a:r>
            <a:endParaRPr sz="1100"/>
          </a:p>
        </p:txBody>
      </p:sp>
      <p:sp>
        <p:nvSpPr>
          <p:cNvPr id="68" name="Google Shape;68;p15"/>
          <p:cNvSpPr/>
          <p:nvPr/>
        </p:nvSpPr>
        <p:spPr>
          <a:xfrm>
            <a:off x="721519" y="2828925"/>
            <a:ext cx="50006" cy="50006"/>
          </a:xfrm>
          <a:prstGeom prst="rect">
            <a:avLst/>
          </a:prstGeom>
          <a:solidFill>
            <a:srgbClr val="0A8B7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850100" y="2786075"/>
            <a:ext cx="20430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ネット予約・電話・LINE・体験申込をCV計測</a:t>
            </a:r>
            <a:endParaRPr sz="1100"/>
          </a:p>
        </p:txBody>
      </p:sp>
      <p:sp>
        <p:nvSpPr>
          <p:cNvPr id="70" name="Google Shape;70;p15"/>
          <p:cNvSpPr/>
          <p:nvPr/>
        </p:nvSpPr>
        <p:spPr>
          <a:xfrm>
            <a:off x="721519" y="3143250"/>
            <a:ext cx="50006" cy="50006"/>
          </a:xfrm>
          <a:prstGeom prst="rect">
            <a:avLst/>
          </a:prstGeom>
          <a:solidFill>
            <a:srgbClr val="0A8B7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850100" y="3100400"/>
            <a:ext cx="20430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アクセス確認・料金確認も検討CVとして取得</a:t>
            </a:r>
            <a:endParaRPr sz="1100"/>
          </a:p>
        </p:txBody>
      </p:sp>
      <p:sp>
        <p:nvSpPr>
          <p:cNvPr id="72" name="Google Shape;72;p15"/>
          <p:cNvSpPr/>
          <p:nvPr/>
        </p:nvSpPr>
        <p:spPr>
          <a:xfrm>
            <a:off x="721519" y="3457575"/>
            <a:ext cx="50006" cy="50006"/>
          </a:xfrm>
          <a:prstGeom prst="rect">
            <a:avLst/>
          </a:prstGeom>
          <a:solidFill>
            <a:srgbClr val="0A8B7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850106" y="3414713"/>
            <a:ext cx="191452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任意の受講者年代でペルソナ別反応を分析</a:t>
            </a:r>
            <a:endParaRPr sz="1100"/>
          </a:p>
        </p:txBody>
      </p:sp>
      <p:sp>
        <p:nvSpPr>
          <p:cNvPr id="74" name="Google Shape;74;p15"/>
          <p:cNvSpPr/>
          <p:nvPr/>
        </p:nvSpPr>
        <p:spPr>
          <a:xfrm>
            <a:off x="721519" y="3721894"/>
            <a:ext cx="2043113" cy="178594"/>
          </a:xfrm>
          <a:prstGeom prst="rect">
            <a:avLst/>
          </a:prstGeom>
          <a:solidFill>
            <a:srgbClr val="E4F3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821531" y="3757613"/>
            <a:ext cx="184308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HP改修すべきか、地域施策へ振るべきかを判定</a:t>
            </a:r>
            <a:endParaRPr sz="1100"/>
          </a:p>
        </p:txBody>
      </p:sp>
      <p:sp>
        <p:nvSpPr>
          <p:cNvPr id="76" name="Google Shape;76;p15"/>
          <p:cNvSpPr/>
          <p:nvPr/>
        </p:nvSpPr>
        <p:spPr>
          <a:xfrm>
            <a:off x="3150394" y="964406"/>
            <a:ext cx="2443163" cy="3000375"/>
          </a:xfrm>
          <a:prstGeom prst="rect">
            <a:avLst/>
          </a:prstGeom>
          <a:solidFill>
            <a:srgbClr val="FFFFFF"/>
          </a:solidFill>
          <a:ln cap="flat" cmpd="sng" w="1047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3150394" y="964406"/>
            <a:ext cx="57150" cy="3000375"/>
          </a:xfrm>
          <a:prstGeom prst="rect">
            <a:avLst/>
          </a:prstGeom>
          <a:solidFill>
            <a:srgbClr val="0A8B7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3350419" y="1221581"/>
            <a:ext cx="2043113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A8B72"/>
                </a:solidFill>
                <a:latin typeface="Arial"/>
                <a:ea typeface="Arial"/>
                <a:cs typeface="Arial"/>
                <a:sym typeface="Arial"/>
              </a:rPr>
              <a:t>PLAN B｜選ばれる見え方</a:t>
            </a:r>
            <a:endParaRPr sz="1100"/>
          </a:p>
        </p:txBody>
      </p:sp>
      <p:sp>
        <p:nvSpPr>
          <p:cNvPr id="79" name="Google Shape;79;p15"/>
          <p:cNvSpPr/>
          <p:nvPr/>
        </p:nvSpPr>
        <p:spPr>
          <a:xfrm>
            <a:off x="3350419" y="1493044"/>
            <a:ext cx="2043113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10231D"/>
                </a:solidFill>
                <a:latin typeface="Play"/>
                <a:ea typeface="Play"/>
                <a:cs typeface="Play"/>
                <a:sym typeface="Play"/>
              </a:rPr>
              <a:t>Instagram設計＋撮影</a:t>
            </a:r>
            <a:endParaRPr sz="1100"/>
          </a:p>
        </p:txBody>
      </p:sp>
      <p:sp>
        <p:nvSpPr>
          <p:cNvPr id="80" name="Google Shape;80;p15"/>
          <p:cNvSpPr/>
          <p:nvPr/>
        </p:nvSpPr>
        <p:spPr>
          <a:xfrm>
            <a:off x="3350419" y="1807369"/>
            <a:ext cx="2043113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A8B72"/>
                </a:solidFill>
                <a:latin typeface="Play"/>
                <a:ea typeface="Play"/>
                <a:cs typeface="Play"/>
                <a:sym typeface="Play"/>
              </a:rPr>
              <a:t>60〜80万円目安</a:t>
            </a:r>
            <a:endParaRPr sz="1100"/>
          </a:p>
        </p:txBody>
      </p:sp>
      <p:sp>
        <p:nvSpPr>
          <p:cNvPr id="81" name="Google Shape;81;p15"/>
          <p:cNvSpPr/>
          <p:nvPr/>
        </p:nvSpPr>
        <p:spPr>
          <a:xfrm>
            <a:off x="3350419" y="2107406"/>
            <a:ext cx="20431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施設・人・雰囲気の信頼資産を作る</a:t>
            </a:r>
            <a:endParaRPr sz="1100"/>
          </a:p>
        </p:txBody>
      </p:sp>
      <p:sp>
        <p:nvSpPr>
          <p:cNvPr id="82" name="Google Shape;82;p15"/>
          <p:cNvSpPr/>
          <p:nvPr/>
        </p:nvSpPr>
        <p:spPr>
          <a:xfrm>
            <a:off x="3350419" y="2393156"/>
            <a:ext cx="2043113" cy="14288"/>
          </a:xfrm>
          <a:prstGeom prst="rect">
            <a:avLst/>
          </a:prstGeom>
          <a:solidFill>
            <a:srgbClr val="D7E1D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3350419" y="2550319"/>
            <a:ext cx="2043113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検討論点</a:t>
            </a:r>
            <a:endParaRPr sz="1100"/>
          </a:p>
        </p:txBody>
      </p:sp>
      <p:sp>
        <p:nvSpPr>
          <p:cNvPr id="84" name="Google Shape;84;p15"/>
          <p:cNvSpPr/>
          <p:nvPr/>
        </p:nvSpPr>
        <p:spPr>
          <a:xfrm>
            <a:off x="3350419" y="2828925"/>
            <a:ext cx="50006" cy="50006"/>
          </a:xfrm>
          <a:prstGeom prst="rect">
            <a:avLst/>
          </a:prstGeom>
          <a:solidFill>
            <a:srgbClr val="0A8B7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3479006" y="2786063"/>
            <a:ext cx="191452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フィード投稿デザイン、トーン、型を整備</a:t>
            </a:r>
            <a:endParaRPr sz="1100"/>
          </a:p>
        </p:txBody>
      </p:sp>
      <p:sp>
        <p:nvSpPr>
          <p:cNvPr id="86" name="Google Shape;86;p15"/>
          <p:cNvSpPr/>
          <p:nvPr/>
        </p:nvSpPr>
        <p:spPr>
          <a:xfrm>
            <a:off x="3350419" y="3143250"/>
            <a:ext cx="50006" cy="50006"/>
          </a:xfrm>
          <a:prstGeom prst="rect">
            <a:avLst/>
          </a:prstGeom>
          <a:solidFill>
            <a:srgbClr val="0A8B7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3479006" y="3100388"/>
            <a:ext cx="191452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施設素材撮影でHP・LP・広告にも転用</a:t>
            </a:r>
            <a:endParaRPr sz="1100"/>
          </a:p>
        </p:txBody>
      </p:sp>
      <p:sp>
        <p:nvSpPr>
          <p:cNvPr id="88" name="Google Shape;88;p15"/>
          <p:cNvSpPr/>
          <p:nvPr/>
        </p:nvSpPr>
        <p:spPr>
          <a:xfrm>
            <a:off x="3350419" y="3457575"/>
            <a:ext cx="50006" cy="50006"/>
          </a:xfrm>
          <a:prstGeom prst="rect">
            <a:avLst/>
          </a:prstGeom>
          <a:solidFill>
            <a:srgbClr val="0A8B7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3479006" y="3414713"/>
            <a:ext cx="191452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相談CV・検討CVを増やす土台として評価</a:t>
            </a:r>
            <a:endParaRPr sz="1100"/>
          </a:p>
        </p:txBody>
      </p:sp>
      <p:sp>
        <p:nvSpPr>
          <p:cNvPr id="90" name="Google Shape;90;p15"/>
          <p:cNvSpPr/>
          <p:nvPr/>
        </p:nvSpPr>
        <p:spPr>
          <a:xfrm>
            <a:off x="3350419" y="3721894"/>
            <a:ext cx="2043113" cy="178594"/>
          </a:xfrm>
          <a:prstGeom prst="rect">
            <a:avLst/>
          </a:prstGeom>
          <a:solidFill>
            <a:srgbClr val="E4F3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3450431" y="3757613"/>
            <a:ext cx="184308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単体即効性より、A/CのCV率を上げる補助施策</a:t>
            </a:r>
            <a:endParaRPr sz="1100"/>
          </a:p>
        </p:txBody>
      </p:sp>
      <p:sp>
        <p:nvSpPr>
          <p:cNvPr id="92" name="Google Shape;92;p15"/>
          <p:cNvSpPr/>
          <p:nvPr/>
        </p:nvSpPr>
        <p:spPr>
          <a:xfrm>
            <a:off x="5779294" y="964406"/>
            <a:ext cx="2443163" cy="3000375"/>
          </a:xfrm>
          <a:prstGeom prst="rect">
            <a:avLst/>
          </a:prstGeom>
          <a:solidFill>
            <a:srgbClr val="FFFFFF"/>
          </a:solidFill>
          <a:ln cap="flat" cmpd="sng" w="1047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5779294" y="964406"/>
            <a:ext cx="57150" cy="3000375"/>
          </a:xfrm>
          <a:prstGeom prst="rect">
            <a:avLst/>
          </a:prstGeom>
          <a:solidFill>
            <a:srgbClr val="0A8B7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5979319" y="1221581"/>
            <a:ext cx="2043113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A8B72"/>
                </a:solidFill>
                <a:latin typeface="Arial"/>
                <a:ea typeface="Arial"/>
                <a:cs typeface="Arial"/>
                <a:sym typeface="Arial"/>
              </a:rPr>
              <a:t>PLAN C｜地域から増やす</a:t>
            </a:r>
            <a:endParaRPr sz="1100"/>
          </a:p>
        </p:txBody>
      </p:sp>
      <p:sp>
        <p:nvSpPr>
          <p:cNvPr id="95" name="Google Shape;95;p15"/>
          <p:cNvSpPr/>
          <p:nvPr/>
        </p:nvSpPr>
        <p:spPr>
          <a:xfrm>
            <a:off x="5979319" y="1493044"/>
            <a:ext cx="2043113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10231D"/>
                </a:solidFill>
                <a:latin typeface="Play"/>
                <a:ea typeface="Play"/>
                <a:cs typeface="Play"/>
                <a:sym typeface="Play"/>
              </a:rPr>
              <a:t>園田・塚口エリア施策</a:t>
            </a:r>
            <a:endParaRPr sz="1100"/>
          </a:p>
        </p:txBody>
      </p:sp>
      <p:sp>
        <p:nvSpPr>
          <p:cNvPr id="96" name="Google Shape;96;p15"/>
          <p:cNvSpPr/>
          <p:nvPr/>
        </p:nvSpPr>
        <p:spPr>
          <a:xfrm>
            <a:off x="5979319" y="1807369"/>
            <a:ext cx="2043113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A8B72"/>
                </a:solidFill>
                <a:latin typeface="Play"/>
                <a:ea typeface="Play"/>
                <a:cs typeface="Play"/>
                <a:sym typeface="Play"/>
              </a:rPr>
              <a:t>60万円目安</a:t>
            </a:r>
            <a:endParaRPr sz="1100"/>
          </a:p>
        </p:txBody>
      </p:sp>
      <p:sp>
        <p:nvSpPr>
          <p:cNvPr id="97" name="Google Shape;97;p15"/>
          <p:cNvSpPr/>
          <p:nvPr/>
        </p:nvSpPr>
        <p:spPr>
          <a:xfrm>
            <a:off x="5979319" y="2107406"/>
            <a:ext cx="20431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5,000枚配布で地域反応を検証する</a:t>
            </a:r>
            <a:endParaRPr sz="1100"/>
          </a:p>
        </p:txBody>
      </p:sp>
      <p:sp>
        <p:nvSpPr>
          <p:cNvPr id="98" name="Google Shape;98;p15"/>
          <p:cNvSpPr/>
          <p:nvPr/>
        </p:nvSpPr>
        <p:spPr>
          <a:xfrm>
            <a:off x="5979319" y="2393156"/>
            <a:ext cx="2043113" cy="14288"/>
          </a:xfrm>
          <a:prstGeom prst="rect">
            <a:avLst/>
          </a:prstGeom>
          <a:solidFill>
            <a:srgbClr val="D7E1D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5979319" y="2550319"/>
            <a:ext cx="2043113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検討論点</a:t>
            </a:r>
            <a:endParaRPr sz="1100"/>
          </a:p>
        </p:txBody>
      </p:sp>
      <p:sp>
        <p:nvSpPr>
          <p:cNvPr id="100" name="Google Shape;100;p15"/>
          <p:cNvSpPr/>
          <p:nvPr/>
        </p:nvSpPr>
        <p:spPr>
          <a:xfrm>
            <a:off x="5979319" y="2828925"/>
            <a:ext cx="50006" cy="50006"/>
          </a:xfrm>
          <a:prstGeom prst="rect">
            <a:avLst/>
          </a:prstGeom>
          <a:solidFill>
            <a:srgbClr val="0A8B7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6107906" y="2786063"/>
            <a:ext cx="191452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園田・塚口の配布面をペルソナ別に設計</a:t>
            </a:r>
            <a:endParaRPr sz="1100"/>
          </a:p>
        </p:txBody>
      </p:sp>
      <p:sp>
        <p:nvSpPr>
          <p:cNvPr id="102" name="Google Shape;102;p15"/>
          <p:cNvSpPr/>
          <p:nvPr/>
        </p:nvSpPr>
        <p:spPr>
          <a:xfrm>
            <a:off x="5979319" y="3143250"/>
            <a:ext cx="50006" cy="50006"/>
          </a:xfrm>
          <a:prstGeom prst="rect">
            <a:avLst/>
          </a:prstGeom>
          <a:solidFill>
            <a:srgbClr val="0A8B7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6107906" y="3100388"/>
            <a:ext cx="191452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ジュニア親向け / 40代以降向けフライヤー制作</a:t>
            </a:r>
            <a:endParaRPr sz="1100"/>
          </a:p>
        </p:txBody>
      </p:sp>
      <p:sp>
        <p:nvSpPr>
          <p:cNvPr id="104" name="Google Shape;104;p15"/>
          <p:cNvSpPr/>
          <p:nvPr/>
        </p:nvSpPr>
        <p:spPr>
          <a:xfrm>
            <a:off x="5979319" y="3457575"/>
            <a:ext cx="50006" cy="50006"/>
          </a:xfrm>
          <a:prstGeom prst="rect">
            <a:avLst/>
          </a:prstGeom>
          <a:solidFill>
            <a:srgbClr val="0A8B7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6107906" y="3414713"/>
            <a:ext cx="191452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QR特殊リンクでチラシ経由HP閲覧を計測</a:t>
            </a:r>
            <a:endParaRPr sz="1100"/>
          </a:p>
        </p:txBody>
      </p:sp>
      <p:sp>
        <p:nvSpPr>
          <p:cNvPr id="106" name="Google Shape;106;p15"/>
          <p:cNvSpPr/>
          <p:nvPr/>
        </p:nvSpPr>
        <p:spPr>
          <a:xfrm>
            <a:off x="5979319" y="3721894"/>
            <a:ext cx="2043113" cy="178594"/>
          </a:xfrm>
          <a:prstGeom prst="rect">
            <a:avLst/>
          </a:prstGeom>
          <a:solidFill>
            <a:srgbClr val="E4F3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079331" y="3757613"/>
            <a:ext cx="184308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広告は別予算で地域限定配信として追加</a:t>
            </a:r>
            <a:endParaRPr sz="1100"/>
          </a:p>
        </p:txBody>
      </p:sp>
      <p:sp>
        <p:nvSpPr>
          <p:cNvPr id="108" name="Google Shape;108;p15"/>
          <p:cNvSpPr/>
          <p:nvPr/>
        </p:nvSpPr>
        <p:spPr>
          <a:xfrm>
            <a:off x="528638" y="4179094"/>
            <a:ext cx="7629525" cy="45720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E5C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28638" y="4179094"/>
            <a:ext cx="57150" cy="457200"/>
          </a:xfrm>
          <a:prstGeom prst="rect">
            <a:avLst/>
          </a:prstGeom>
          <a:solidFill>
            <a:srgbClr val="C77A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750094" y="4286250"/>
            <a:ext cx="70365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社内判断軸：Aは集客を増やす施策ではなく、どの導線が効いているかを見える化する基盤。Cは地域内の認知・紹介波及を狙う。</a:t>
            </a:r>
            <a:endParaRPr sz="1100"/>
          </a:p>
        </p:txBody>
      </p:sp>
      <p:sp>
        <p:nvSpPr>
          <p:cNvPr id="111" name="Google Shape;111;p15"/>
          <p:cNvSpPr/>
          <p:nvPr/>
        </p:nvSpPr>
        <p:spPr>
          <a:xfrm>
            <a:off x="750094" y="4443413"/>
            <a:ext cx="689371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共通目標：月10件の体験・見学・相談リード。A実施後、HPがCVR2.2%水準を下回るなら主要導線改修を検討。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6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0" y="0"/>
            <a:ext cx="2607469" cy="5143500"/>
          </a:xfrm>
          <a:prstGeom prst="rect">
            <a:avLst/>
          </a:prstGeom>
          <a:solidFill>
            <a:srgbClr val="063D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442913" y="40005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9DE4D2"/>
                </a:solidFill>
                <a:latin typeface="Arial"/>
                <a:ea typeface="Arial"/>
                <a:cs typeface="Arial"/>
                <a:sym typeface="Arial"/>
              </a:rPr>
              <a:t>PLAN A</a:t>
            </a:r>
            <a:endParaRPr sz="1100"/>
          </a:p>
        </p:txBody>
      </p:sp>
      <p:sp>
        <p:nvSpPr>
          <p:cNvPr id="119" name="Google Shape;119;p16"/>
          <p:cNvSpPr/>
          <p:nvPr/>
        </p:nvSpPr>
        <p:spPr>
          <a:xfrm>
            <a:off x="442913" y="728662"/>
            <a:ext cx="17859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HPを変える前に、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まず測る</a:t>
            </a:r>
            <a:endParaRPr sz="1100"/>
          </a:p>
        </p:txBody>
      </p:sp>
      <p:sp>
        <p:nvSpPr>
          <p:cNvPr id="120" name="Google Shape;120;p16"/>
          <p:cNvSpPr/>
          <p:nvPr/>
        </p:nvSpPr>
        <p:spPr>
          <a:xfrm>
            <a:off x="442913" y="1757363"/>
            <a:ext cx="1571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900">
                <a:solidFill>
                  <a:srgbClr val="A7F0D7"/>
                </a:solidFill>
                <a:latin typeface="Play"/>
                <a:ea typeface="Play"/>
                <a:cs typeface="Play"/>
                <a:sym typeface="Play"/>
              </a:rPr>
              <a:t>30〜40万円</a:t>
            </a:r>
            <a:endParaRPr sz="1100"/>
          </a:p>
        </p:txBody>
      </p:sp>
      <p:sp>
        <p:nvSpPr>
          <p:cNvPr id="121" name="Google Shape;121;p16"/>
          <p:cNvSpPr/>
          <p:nvPr/>
        </p:nvSpPr>
        <p:spPr>
          <a:xfrm>
            <a:off x="442913" y="2271713"/>
            <a:ext cx="1685925" cy="14288"/>
          </a:xfrm>
          <a:prstGeom prst="rect">
            <a:avLst/>
          </a:prstGeom>
          <a:solidFill>
            <a:srgbClr val="39695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442913" y="2471738"/>
            <a:ext cx="57150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A7F0D7"/>
                </a:solidFill>
                <a:latin typeface="Arial"/>
                <a:ea typeface="Arial"/>
                <a:cs typeface="Arial"/>
                <a:sym typeface="Arial"/>
              </a:rPr>
              <a:t>目的</a:t>
            </a:r>
            <a:endParaRPr sz="1100"/>
          </a:p>
        </p:txBody>
      </p:sp>
      <p:sp>
        <p:nvSpPr>
          <p:cNvPr id="123" name="Google Shape;123;p16"/>
          <p:cNvSpPr/>
          <p:nvPr/>
        </p:nvSpPr>
        <p:spPr>
          <a:xfrm>
            <a:off x="442913" y="2686050"/>
            <a:ext cx="17430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HPが悪いのか、そもそも測れていないだけなのかを切り分ける。</a:t>
            </a:r>
            <a:endParaRPr sz="1100"/>
          </a:p>
        </p:txBody>
      </p:sp>
      <p:sp>
        <p:nvSpPr>
          <p:cNvPr id="124" name="Google Shape;124;p16"/>
          <p:cNvSpPr/>
          <p:nvPr/>
        </p:nvSpPr>
        <p:spPr>
          <a:xfrm>
            <a:off x="442913" y="3336131"/>
            <a:ext cx="50006" cy="50006"/>
          </a:xfrm>
          <a:prstGeom prst="rect">
            <a:avLst/>
          </a:prstGeom>
          <a:solidFill>
            <a:srgbClr val="A7F0D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3293269"/>
            <a:ext cx="1657350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ネット予約とCV計測を整備</a:t>
            </a:r>
            <a:endParaRPr sz="1100"/>
          </a:p>
        </p:txBody>
      </p:sp>
      <p:sp>
        <p:nvSpPr>
          <p:cNvPr id="126" name="Google Shape;126;p16"/>
          <p:cNvSpPr/>
          <p:nvPr/>
        </p:nvSpPr>
        <p:spPr>
          <a:xfrm>
            <a:off x="442913" y="3593306"/>
            <a:ext cx="50006" cy="50006"/>
          </a:xfrm>
          <a:prstGeom prst="rect">
            <a:avLst/>
          </a:prstGeom>
          <a:solidFill>
            <a:srgbClr val="A7F0D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3550444"/>
            <a:ext cx="1657350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流入元と受講者年代を取る</a:t>
            </a:r>
            <a:endParaRPr sz="1100"/>
          </a:p>
        </p:txBody>
      </p:sp>
      <p:sp>
        <p:nvSpPr>
          <p:cNvPr id="128" name="Google Shape;128;p16"/>
          <p:cNvSpPr/>
          <p:nvPr/>
        </p:nvSpPr>
        <p:spPr>
          <a:xfrm>
            <a:off x="442913" y="3850481"/>
            <a:ext cx="50006" cy="50006"/>
          </a:xfrm>
          <a:prstGeom prst="rect">
            <a:avLst/>
          </a:prstGeom>
          <a:solidFill>
            <a:srgbClr val="A7F0D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3807619"/>
            <a:ext cx="1657350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HP改修要否を数字で判断</a:t>
            </a:r>
            <a:endParaRPr sz="1100"/>
          </a:p>
        </p:txBody>
      </p:sp>
      <p:sp>
        <p:nvSpPr>
          <p:cNvPr id="130" name="Google Shape;130;p16"/>
          <p:cNvSpPr/>
          <p:nvPr/>
        </p:nvSpPr>
        <p:spPr>
          <a:xfrm>
            <a:off x="7700963" y="357188"/>
            <a:ext cx="90011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2/5｜Plan A 詳細</a:t>
            </a:r>
            <a:endParaRPr sz="1100"/>
          </a:p>
        </p:txBody>
      </p:sp>
      <p:sp>
        <p:nvSpPr>
          <p:cNvPr id="131" name="Google Shape;131;p16"/>
          <p:cNvSpPr/>
          <p:nvPr/>
        </p:nvSpPr>
        <p:spPr>
          <a:xfrm>
            <a:off x="2928938" y="385763"/>
            <a:ext cx="4643438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rgbClr val="10231D"/>
                </a:solidFill>
                <a:latin typeface="Play"/>
                <a:ea typeface="Play"/>
                <a:cs typeface="Play"/>
                <a:sym typeface="Play"/>
              </a:rPr>
              <a:t>Plan A｜測定後にHP投資を判断する</a:t>
            </a:r>
            <a:endParaRPr sz="1100"/>
          </a:p>
        </p:txBody>
      </p:sp>
      <p:sp>
        <p:nvSpPr>
          <p:cNvPr id="132" name="Google Shape;132;p16"/>
          <p:cNvSpPr/>
          <p:nvPr/>
        </p:nvSpPr>
        <p:spPr>
          <a:xfrm>
            <a:off x="2928938" y="671513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今のHPが集客に効いているかは、CV計測がない限り判断できない。まず“レジ”を置く。</a:t>
            </a:r>
            <a:endParaRPr sz="1100"/>
          </a:p>
        </p:txBody>
      </p:sp>
      <p:sp>
        <p:nvSpPr>
          <p:cNvPr id="133" name="Google Shape;133;p16"/>
          <p:cNvSpPr/>
          <p:nvPr/>
        </p:nvSpPr>
        <p:spPr>
          <a:xfrm>
            <a:off x="2928938" y="1100138"/>
            <a:ext cx="1607344" cy="842963"/>
          </a:xfrm>
          <a:prstGeom prst="rect">
            <a:avLst/>
          </a:prstGeom>
          <a:solidFill>
            <a:srgbClr val="FFFFFF"/>
          </a:solidFill>
          <a:ln cap="flat" cmpd="sng" w="1047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3071813" y="1228725"/>
            <a:ext cx="24288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400">
                <a:solidFill>
                  <a:srgbClr val="0A8B72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1100"/>
          </a:p>
        </p:txBody>
      </p:sp>
      <p:sp>
        <p:nvSpPr>
          <p:cNvPr id="135" name="Google Shape;135;p16"/>
          <p:cNvSpPr/>
          <p:nvPr/>
        </p:nvSpPr>
        <p:spPr>
          <a:xfrm>
            <a:off x="3386138" y="1257300"/>
            <a:ext cx="10072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現状</a:t>
            </a:r>
            <a:endParaRPr sz="1100"/>
          </a:p>
        </p:txBody>
      </p:sp>
      <p:sp>
        <p:nvSpPr>
          <p:cNvPr id="136" name="Google Shape;136;p16"/>
          <p:cNvSpPr/>
          <p:nvPr/>
        </p:nvSpPr>
        <p:spPr>
          <a:xfrm>
            <a:off x="3386138" y="1485900"/>
            <a:ext cx="100726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月約1,650訪問はあるが、予約・電話・LINE等の成果が見えていない。</a:t>
            </a:r>
            <a:endParaRPr sz="1100"/>
          </a:p>
        </p:txBody>
      </p:sp>
      <p:sp>
        <p:nvSpPr>
          <p:cNvPr id="137" name="Google Shape;137;p16"/>
          <p:cNvSpPr/>
          <p:nvPr/>
        </p:nvSpPr>
        <p:spPr>
          <a:xfrm>
            <a:off x="4829175" y="1100138"/>
            <a:ext cx="1607344" cy="842963"/>
          </a:xfrm>
          <a:prstGeom prst="rect">
            <a:avLst/>
          </a:prstGeom>
          <a:solidFill>
            <a:srgbClr val="FFFFFF"/>
          </a:solidFill>
          <a:ln cap="flat" cmpd="sng" w="1047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4972050" y="1228725"/>
            <a:ext cx="24288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400">
                <a:solidFill>
                  <a:srgbClr val="0A8B72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 sz="1100"/>
          </a:p>
        </p:txBody>
      </p:sp>
      <p:sp>
        <p:nvSpPr>
          <p:cNvPr id="139" name="Google Shape;139;p16"/>
          <p:cNvSpPr/>
          <p:nvPr/>
        </p:nvSpPr>
        <p:spPr>
          <a:xfrm>
            <a:off x="5286375" y="1257300"/>
            <a:ext cx="10072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測る</a:t>
            </a:r>
            <a:endParaRPr sz="1100"/>
          </a:p>
        </p:txBody>
      </p:sp>
      <p:sp>
        <p:nvSpPr>
          <p:cNvPr id="140" name="Google Shape;140;p16"/>
          <p:cNvSpPr/>
          <p:nvPr/>
        </p:nvSpPr>
        <p:spPr>
          <a:xfrm>
            <a:off x="5286375" y="1485900"/>
            <a:ext cx="100726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6つのCVと流入元を計測し、任意で受講者年代も取得する。</a:t>
            </a:r>
            <a:endParaRPr sz="1100"/>
          </a:p>
        </p:txBody>
      </p:sp>
      <p:sp>
        <p:nvSpPr>
          <p:cNvPr id="141" name="Google Shape;141;p16"/>
          <p:cNvSpPr/>
          <p:nvPr/>
        </p:nvSpPr>
        <p:spPr>
          <a:xfrm>
            <a:off x="6729413" y="1100138"/>
            <a:ext cx="1607344" cy="842963"/>
          </a:xfrm>
          <a:prstGeom prst="rect">
            <a:avLst/>
          </a:prstGeom>
          <a:solidFill>
            <a:srgbClr val="FFFFFF"/>
          </a:solidFill>
          <a:ln cap="flat" cmpd="sng" w="1047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6872288" y="1228725"/>
            <a:ext cx="24288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400">
                <a:solidFill>
                  <a:srgbClr val="0A8B72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 sz="1100"/>
          </a:p>
        </p:txBody>
      </p:sp>
      <p:sp>
        <p:nvSpPr>
          <p:cNvPr id="143" name="Google Shape;143;p16"/>
          <p:cNvSpPr/>
          <p:nvPr/>
        </p:nvSpPr>
        <p:spPr>
          <a:xfrm>
            <a:off x="7186613" y="1257300"/>
            <a:ext cx="10072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判断</a:t>
            </a:r>
            <a:endParaRPr sz="1100"/>
          </a:p>
        </p:txBody>
      </p:sp>
      <p:sp>
        <p:nvSpPr>
          <p:cNvPr id="144" name="Google Shape;144;p16"/>
          <p:cNvSpPr/>
          <p:nvPr/>
        </p:nvSpPr>
        <p:spPr>
          <a:xfrm>
            <a:off x="7186613" y="1485900"/>
            <a:ext cx="100726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CVRが水準未満ならHP導線改修。水準以上なら流入増に投資。</a:t>
            </a:r>
            <a:endParaRPr sz="1100"/>
          </a:p>
        </p:txBody>
      </p:sp>
      <p:cxnSp>
        <p:nvCxnSpPr>
          <p:cNvPr id="145" name="Google Shape;145;p16"/>
          <p:cNvCxnSpPr/>
          <p:nvPr/>
        </p:nvCxnSpPr>
        <p:spPr>
          <a:xfrm>
            <a:off x="4543425" y="1521619"/>
            <a:ext cx="271463" cy="0"/>
          </a:xfrm>
          <a:prstGeom prst="straightConnector1">
            <a:avLst/>
          </a:prstGeom>
          <a:noFill/>
          <a:ln cap="flat" cmpd="sng" w="28575">
            <a:solidFill>
              <a:srgbClr val="0A8B7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16"/>
          <p:cNvCxnSpPr/>
          <p:nvPr/>
        </p:nvCxnSpPr>
        <p:spPr>
          <a:xfrm>
            <a:off x="6443663" y="1521619"/>
            <a:ext cx="271463" cy="0"/>
          </a:xfrm>
          <a:prstGeom prst="straightConnector1">
            <a:avLst/>
          </a:prstGeom>
          <a:noFill/>
          <a:ln cap="flat" cmpd="sng" w="28575">
            <a:solidFill>
              <a:srgbClr val="0A8B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16"/>
          <p:cNvSpPr/>
          <p:nvPr/>
        </p:nvSpPr>
        <p:spPr>
          <a:xfrm>
            <a:off x="2928938" y="2228850"/>
            <a:ext cx="5407819" cy="871538"/>
          </a:xfrm>
          <a:prstGeom prst="rect">
            <a:avLst/>
          </a:prstGeom>
          <a:solidFill>
            <a:srgbClr val="FFFFFF"/>
          </a:solidFill>
          <a:ln cap="flat" cmpd="sng" w="1047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3114675" y="2371725"/>
            <a:ext cx="85725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計測するCV</a:t>
            </a:r>
            <a:endParaRPr sz="1100"/>
          </a:p>
        </p:txBody>
      </p:sp>
      <p:sp>
        <p:nvSpPr>
          <p:cNvPr id="149" name="Google Shape;149;p16"/>
          <p:cNvSpPr/>
          <p:nvPr/>
        </p:nvSpPr>
        <p:spPr>
          <a:xfrm>
            <a:off x="3114675" y="2628900"/>
            <a:ext cx="685800" cy="200025"/>
          </a:xfrm>
          <a:prstGeom prst="rect">
            <a:avLst/>
          </a:prstGeom>
          <a:solidFill>
            <a:srgbClr val="E4F3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3171825" y="2671763"/>
            <a:ext cx="57150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ネット予約</a:t>
            </a:r>
            <a:endParaRPr sz="1100"/>
          </a:p>
        </p:txBody>
      </p:sp>
      <p:sp>
        <p:nvSpPr>
          <p:cNvPr id="151" name="Google Shape;151;p16"/>
          <p:cNvSpPr/>
          <p:nvPr/>
        </p:nvSpPr>
        <p:spPr>
          <a:xfrm>
            <a:off x="3914775" y="2628900"/>
            <a:ext cx="685800" cy="200025"/>
          </a:xfrm>
          <a:prstGeom prst="rect">
            <a:avLst/>
          </a:prstGeom>
          <a:solidFill>
            <a:srgbClr val="E4F3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3971925" y="2671763"/>
            <a:ext cx="57150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電話タップ</a:t>
            </a:r>
            <a:endParaRPr sz="1100"/>
          </a:p>
        </p:txBody>
      </p:sp>
      <p:sp>
        <p:nvSpPr>
          <p:cNvPr id="153" name="Google Shape;153;p16"/>
          <p:cNvSpPr/>
          <p:nvPr/>
        </p:nvSpPr>
        <p:spPr>
          <a:xfrm>
            <a:off x="4714875" y="2628900"/>
            <a:ext cx="685800" cy="200025"/>
          </a:xfrm>
          <a:prstGeom prst="rect">
            <a:avLst/>
          </a:prstGeom>
          <a:solidFill>
            <a:srgbClr val="E4F3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4772025" y="2671763"/>
            <a:ext cx="57150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LINE相談</a:t>
            </a:r>
            <a:endParaRPr sz="1100"/>
          </a:p>
        </p:txBody>
      </p:sp>
      <p:sp>
        <p:nvSpPr>
          <p:cNvPr id="155" name="Google Shape;155;p16"/>
          <p:cNvSpPr/>
          <p:nvPr/>
        </p:nvSpPr>
        <p:spPr>
          <a:xfrm>
            <a:off x="5514975" y="2628900"/>
            <a:ext cx="685800" cy="200025"/>
          </a:xfrm>
          <a:prstGeom prst="rect">
            <a:avLst/>
          </a:prstGeom>
          <a:solidFill>
            <a:srgbClr val="E4F3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5572125" y="2671763"/>
            <a:ext cx="57150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体験申込</a:t>
            </a:r>
            <a:endParaRPr sz="1100"/>
          </a:p>
        </p:txBody>
      </p:sp>
      <p:sp>
        <p:nvSpPr>
          <p:cNvPr id="157" name="Google Shape;157;p16"/>
          <p:cNvSpPr/>
          <p:nvPr/>
        </p:nvSpPr>
        <p:spPr>
          <a:xfrm>
            <a:off x="6315075" y="2628900"/>
            <a:ext cx="685800" cy="200025"/>
          </a:xfrm>
          <a:prstGeom prst="rect">
            <a:avLst/>
          </a:prstGeom>
          <a:solidFill>
            <a:srgbClr val="EEF6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6372225" y="2671763"/>
            <a:ext cx="57150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アクセス確認</a:t>
            </a:r>
            <a:endParaRPr sz="1100"/>
          </a:p>
        </p:txBody>
      </p:sp>
      <p:sp>
        <p:nvSpPr>
          <p:cNvPr id="159" name="Google Shape;159;p16"/>
          <p:cNvSpPr/>
          <p:nvPr/>
        </p:nvSpPr>
        <p:spPr>
          <a:xfrm>
            <a:off x="7115175" y="2628900"/>
            <a:ext cx="685800" cy="200025"/>
          </a:xfrm>
          <a:prstGeom prst="rect">
            <a:avLst/>
          </a:prstGeom>
          <a:solidFill>
            <a:srgbClr val="EEF6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7172325" y="2671763"/>
            <a:ext cx="57150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料金確認</a:t>
            </a:r>
            <a:endParaRPr sz="1100"/>
          </a:p>
        </p:txBody>
      </p:sp>
      <p:sp>
        <p:nvSpPr>
          <p:cNvPr id="161" name="Google Shape;161;p16"/>
          <p:cNvSpPr/>
          <p:nvPr/>
        </p:nvSpPr>
        <p:spPr>
          <a:xfrm>
            <a:off x="3114675" y="2907506"/>
            <a:ext cx="3071813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＋ 予約フォームに任意項目「受講者年代」を追加</a:t>
            </a:r>
            <a:endParaRPr sz="1100"/>
          </a:p>
        </p:txBody>
      </p:sp>
      <p:sp>
        <p:nvSpPr>
          <p:cNvPr id="162" name="Google Shape;162;p16"/>
          <p:cNvSpPr/>
          <p:nvPr/>
        </p:nvSpPr>
        <p:spPr>
          <a:xfrm>
            <a:off x="5679281" y="2907506"/>
            <a:ext cx="2357438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ジュニア / 若手 / 40代以降のどこが反応しているかを見る</a:t>
            </a:r>
            <a:endParaRPr sz="1100"/>
          </a:p>
        </p:txBody>
      </p:sp>
      <p:sp>
        <p:nvSpPr>
          <p:cNvPr id="163" name="Google Shape;163;p16"/>
          <p:cNvSpPr/>
          <p:nvPr/>
        </p:nvSpPr>
        <p:spPr>
          <a:xfrm>
            <a:off x="2928938" y="3343275"/>
            <a:ext cx="5407819" cy="900113"/>
          </a:xfrm>
          <a:prstGeom prst="rect">
            <a:avLst/>
          </a:prstGeom>
          <a:solidFill>
            <a:srgbClr val="FFF4D8"/>
          </a:solidFill>
          <a:ln cap="flat" cmpd="sng" w="10475">
            <a:solidFill>
              <a:srgbClr val="E5C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2928938" y="3343275"/>
            <a:ext cx="57150" cy="900113"/>
          </a:xfrm>
          <a:prstGeom prst="rect">
            <a:avLst/>
          </a:prstGeom>
          <a:solidFill>
            <a:srgbClr val="C77A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3114675" y="3486150"/>
            <a:ext cx="1285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測定後の判断分岐</a:t>
            </a:r>
            <a:endParaRPr sz="1100"/>
          </a:p>
        </p:txBody>
      </p:sp>
      <p:sp>
        <p:nvSpPr>
          <p:cNvPr id="166" name="Google Shape;166;p16"/>
          <p:cNvSpPr/>
          <p:nvPr/>
        </p:nvSpPr>
        <p:spPr>
          <a:xfrm>
            <a:off x="4429125" y="3500438"/>
            <a:ext cx="1143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2.2%前後以上</a:t>
            </a:r>
            <a:endParaRPr sz="1100"/>
          </a:p>
        </p:txBody>
      </p:sp>
      <p:sp>
        <p:nvSpPr>
          <p:cNvPr id="167" name="Google Shape;167;p16"/>
          <p:cNvSpPr/>
          <p:nvPr/>
        </p:nvSpPr>
        <p:spPr>
          <a:xfrm>
            <a:off x="4400550" y="3700463"/>
            <a:ext cx="12001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HPは大きく壊れていない。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地域施策・紹介・流入増へ。</a:t>
            </a:r>
            <a:endParaRPr sz="1100"/>
          </a:p>
        </p:txBody>
      </p:sp>
      <p:sp>
        <p:nvSpPr>
          <p:cNvPr id="168" name="Google Shape;168;p16"/>
          <p:cNvSpPr/>
          <p:nvPr/>
        </p:nvSpPr>
        <p:spPr>
          <a:xfrm>
            <a:off x="5672138" y="3500438"/>
            <a:ext cx="1143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B64A3D"/>
                </a:solidFill>
                <a:latin typeface="Arial"/>
                <a:ea typeface="Arial"/>
                <a:cs typeface="Arial"/>
                <a:sym typeface="Arial"/>
              </a:rPr>
              <a:t>0.6〜1%未満</a:t>
            </a:r>
            <a:endParaRPr sz="1100"/>
          </a:p>
        </p:txBody>
      </p:sp>
      <p:sp>
        <p:nvSpPr>
          <p:cNvPr id="169" name="Google Shape;169;p16"/>
          <p:cNvSpPr/>
          <p:nvPr/>
        </p:nvSpPr>
        <p:spPr>
          <a:xfrm>
            <a:off x="5643563" y="3700463"/>
            <a:ext cx="12001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月10件にも届きにくい。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HP主要導線を改修。</a:t>
            </a:r>
            <a:endParaRPr sz="1100"/>
          </a:p>
        </p:txBody>
      </p:sp>
      <p:sp>
        <p:nvSpPr>
          <p:cNvPr id="170" name="Google Shape;170;p16"/>
          <p:cNvSpPr/>
          <p:nvPr/>
        </p:nvSpPr>
        <p:spPr>
          <a:xfrm>
            <a:off x="6915150" y="3500438"/>
            <a:ext cx="1143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C77A14"/>
                </a:solidFill>
                <a:latin typeface="Arial"/>
                <a:ea typeface="Arial"/>
                <a:cs typeface="Arial"/>
                <a:sym typeface="Arial"/>
              </a:rPr>
              <a:t>中間</a:t>
            </a:r>
            <a:endParaRPr sz="1100"/>
          </a:p>
        </p:txBody>
      </p:sp>
      <p:sp>
        <p:nvSpPr>
          <p:cNvPr id="171" name="Google Shape;171;p16"/>
          <p:cNvSpPr/>
          <p:nvPr/>
        </p:nvSpPr>
        <p:spPr>
          <a:xfrm>
            <a:off x="6886575" y="3700463"/>
            <a:ext cx="12001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部分改善で検証。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全面改修は急がない。</a:t>
            </a:r>
            <a:endParaRPr sz="1100"/>
          </a:p>
        </p:txBody>
      </p:sp>
      <p:sp>
        <p:nvSpPr>
          <p:cNvPr id="172" name="Google Shape;172;p16"/>
          <p:cNvSpPr/>
          <p:nvPr/>
        </p:nvSpPr>
        <p:spPr>
          <a:xfrm>
            <a:off x="3114675" y="4457700"/>
            <a:ext cx="3857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10231D"/>
                </a:solidFill>
                <a:latin typeface="Play"/>
                <a:ea typeface="Play"/>
                <a:cs typeface="Play"/>
                <a:sym typeface="Play"/>
              </a:rPr>
              <a:t>基準値：月10件に必要なCVRは0.61%。2.2%なら約36件/月。</a:t>
            </a:r>
            <a:endParaRPr sz="1100"/>
          </a:p>
        </p:txBody>
      </p:sp>
      <p:sp>
        <p:nvSpPr>
          <p:cNvPr id="173" name="Google Shape;173;p16"/>
          <p:cNvSpPr/>
          <p:nvPr/>
        </p:nvSpPr>
        <p:spPr>
          <a:xfrm>
            <a:off x="3114675" y="4686300"/>
            <a:ext cx="46434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Plan Aの成果物：予約導線 / CV計測 / 流入元計測 / 年代任意取得 / 初期レポート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6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/>
        </p:nvSpPr>
        <p:spPr>
          <a:xfrm>
            <a:off x="0" y="0"/>
            <a:ext cx="2607469" cy="5143500"/>
          </a:xfrm>
          <a:prstGeom prst="rect">
            <a:avLst/>
          </a:prstGeom>
          <a:solidFill>
            <a:srgbClr val="0B3B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442913" y="40005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F1C46B"/>
                </a:solidFill>
                <a:latin typeface="Arial"/>
                <a:ea typeface="Arial"/>
                <a:cs typeface="Arial"/>
                <a:sym typeface="Arial"/>
              </a:rPr>
              <a:t>PLAN B</a:t>
            </a:r>
            <a:endParaRPr sz="1100"/>
          </a:p>
        </p:txBody>
      </p:sp>
      <p:sp>
        <p:nvSpPr>
          <p:cNvPr id="181" name="Google Shape;181;p17"/>
          <p:cNvSpPr/>
          <p:nvPr/>
        </p:nvSpPr>
        <p:spPr>
          <a:xfrm>
            <a:off x="442913" y="728663"/>
            <a:ext cx="1857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9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選ばれる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9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Instagramの型を作る</a:t>
            </a:r>
            <a:endParaRPr sz="1100"/>
          </a:p>
        </p:txBody>
      </p:sp>
      <p:sp>
        <p:nvSpPr>
          <p:cNvPr id="182" name="Google Shape;182;p17"/>
          <p:cNvSpPr/>
          <p:nvPr/>
        </p:nvSpPr>
        <p:spPr>
          <a:xfrm>
            <a:off x="442913" y="1843088"/>
            <a:ext cx="1750219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rgbClr val="F1C46B"/>
                </a:solidFill>
                <a:latin typeface="Play"/>
                <a:ea typeface="Play"/>
                <a:cs typeface="Play"/>
                <a:sym typeface="Play"/>
              </a:rPr>
              <a:t>60〜80万円目安</a:t>
            </a:r>
            <a:endParaRPr sz="1100"/>
          </a:p>
        </p:txBody>
      </p:sp>
      <p:sp>
        <p:nvSpPr>
          <p:cNvPr id="183" name="Google Shape;183;p17"/>
          <p:cNvSpPr/>
          <p:nvPr/>
        </p:nvSpPr>
        <p:spPr>
          <a:xfrm>
            <a:off x="442913" y="2314575"/>
            <a:ext cx="1685925" cy="14288"/>
          </a:xfrm>
          <a:prstGeom prst="rect">
            <a:avLst/>
          </a:prstGeom>
          <a:solidFill>
            <a:srgbClr val="416A6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442913" y="2514600"/>
            <a:ext cx="57150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F1C46B"/>
                </a:solidFill>
                <a:latin typeface="Arial"/>
                <a:ea typeface="Arial"/>
                <a:cs typeface="Arial"/>
                <a:sym typeface="Arial"/>
              </a:rPr>
              <a:t>目的</a:t>
            </a:r>
            <a:endParaRPr sz="1100"/>
          </a:p>
        </p:txBody>
      </p:sp>
      <p:sp>
        <p:nvSpPr>
          <p:cNvPr id="185" name="Google Shape;185;p17"/>
          <p:cNvSpPr/>
          <p:nvPr/>
        </p:nvSpPr>
        <p:spPr>
          <a:xfrm>
            <a:off x="442913" y="2728913"/>
            <a:ext cx="1785937" cy="5286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個人経営・地域密着の安心感を、雑多ではなく整った見え方で伝える。</a:t>
            </a:r>
            <a:endParaRPr sz="1100"/>
          </a:p>
        </p:txBody>
      </p:sp>
      <p:sp>
        <p:nvSpPr>
          <p:cNvPr id="186" name="Google Shape;186;p17"/>
          <p:cNvSpPr/>
          <p:nvPr/>
        </p:nvSpPr>
        <p:spPr>
          <a:xfrm>
            <a:off x="442913" y="3464719"/>
            <a:ext cx="50006" cy="50006"/>
          </a:xfrm>
          <a:prstGeom prst="rect">
            <a:avLst/>
          </a:prstGeom>
          <a:solidFill>
            <a:srgbClr val="F1C46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571500" y="3421856"/>
            <a:ext cx="1657350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プロフィール導線を設計</a:t>
            </a:r>
            <a:endParaRPr sz="1100"/>
          </a:p>
        </p:txBody>
      </p:sp>
      <p:sp>
        <p:nvSpPr>
          <p:cNvPr id="188" name="Google Shape;188;p17"/>
          <p:cNvSpPr/>
          <p:nvPr/>
        </p:nvSpPr>
        <p:spPr>
          <a:xfrm>
            <a:off x="442913" y="3721894"/>
            <a:ext cx="50006" cy="50006"/>
          </a:xfrm>
          <a:prstGeom prst="rect">
            <a:avLst/>
          </a:prstGeom>
          <a:solidFill>
            <a:srgbClr val="F1C46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571500" y="3679031"/>
            <a:ext cx="1657350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投稿テンプレートを納品</a:t>
            </a:r>
            <a:endParaRPr sz="1100"/>
          </a:p>
        </p:txBody>
      </p:sp>
      <p:sp>
        <p:nvSpPr>
          <p:cNvPr id="190" name="Google Shape;190;p17"/>
          <p:cNvSpPr/>
          <p:nvPr/>
        </p:nvSpPr>
        <p:spPr>
          <a:xfrm>
            <a:off x="442913" y="3979069"/>
            <a:ext cx="50006" cy="50006"/>
          </a:xfrm>
          <a:prstGeom prst="rect">
            <a:avLst/>
          </a:prstGeom>
          <a:solidFill>
            <a:srgbClr val="F1C46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571500" y="3936206"/>
            <a:ext cx="1657350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施設・人・レッスン素材を撮影</a:t>
            </a:r>
            <a:endParaRPr sz="1100"/>
          </a:p>
        </p:txBody>
      </p:sp>
      <p:sp>
        <p:nvSpPr>
          <p:cNvPr id="192" name="Google Shape;192;p17"/>
          <p:cNvSpPr/>
          <p:nvPr/>
        </p:nvSpPr>
        <p:spPr>
          <a:xfrm>
            <a:off x="7700963" y="357188"/>
            <a:ext cx="90011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3/5｜Plan B 詳細</a:t>
            </a:r>
            <a:endParaRPr sz="1100"/>
          </a:p>
        </p:txBody>
      </p:sp>
      <p:sp>
        <p:nvSpPr>
          <p:cNvPr id="193" name="Google Shape;193;p17"/>
          <p:cNvSpPr/>
          <p:nvPr/>
        </p:nvSpPr>
        <p:spPr>
          <a:xfrm>
            <a:off x="2928938" y="385763"/>
            <a:ext cx="5179219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10231D"/>
                </a:solidFill>
                <a:latin typeface="Play"/>
                <a:ea typeface="Play"/>
                <a:cs typeface="Play"/>
                <a:sym typeface="Play"/>
              </a:rPr>
              <a:t>Plan B｜地域密着なのに整って見えるInstagram設計</a:t>
            </a:r>
            <a:endParaRPr sz="1100"/>
          </a:p>
        </p:txBody>
      </p:sp>
      <p:sp>
        <p:nvSpPr>
          <p:cNvPr id="194" name="Google Shape;194;p17"/>
          <p:cNvSpPr/>
          <p:nvPr/>
        </p:nvSpPr>
        <p:spPr>
          <a:xfrm>
            <a:off x="2928938" y="685800"/>
            <a:ext cx="542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投稿代行ではなく、プロフィール・投稿テンプレ・撮影素材を納品し、HP/LP/広告にも転用する</a:t>
            </a:r>
            <a:endParaRPr sz="1100"/>
          </a:p>
        </p:txBody>
      </p:sp>
      <p:sp>
        <p:nvSpPr>
          <p:cNvPr id="195" name="Google Shape;195;p17"/>
          <p:cNvSpPr/>
          <p:nvPr/>
        </p:nvSpPr>
        <p:spPr>
          <a:xfrm>
            <a:off x="2928938" y="1071563"/>
            <a:ext cx="1571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競合と違う刺し方</a:t>
            </a:r>
            <a:endParaRPr sz="1100"/>
          </a:p>
        </p:txBody>
      </p:sp>
      <p:sp>
        <p:nvSpPr>
          <p:cNvPr id="196" name="Google Shape;196;p17"/>
          <p:cNvSpPr/>
          <p:nvPr/>
        </p:nvSpPr>
        <p:spPr>
          <a:xfrm>
            <a:off x="2928938" y="1314450"/>
            <a:ext cx="1643063" cy="800100"/>
          </a:xfrm>
          <a:prstGeom prst="rect">
            <a:avLst/>
          </a:prstGeom>
          <a:solidFill>
            <a:srgbClr val="FFFFFF"/>
          </a:solidFill>
          <a:ln cap="flat" cmpd="sng" w="1047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3043238" y="1421606"/>
            <a:ext cx="14144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A8B72"/>
                </a:solidFill>
                <a:latin typeface="Arial"/>
                <a:ea typeface="Arial"/>
                <a:cs typeface="Arial"/>
                <a:sym typeface="Arial"/>
              </a:rPr>
              <a:t>近隣競合</a:t>
            </a:r>
            <a:endParaRPr sz="1100"/>
          </a:p>
        </p:txBody>
      </p:sp>
      <p:sp>
        <p:nvSpPr>
          <p:cNvPr id="198" name="Google Shape;198;p17"/>
          <p:cNvSpPr/>
          <p:nvPr/>
        </p:nvSpPr>
        <p:spPr>
          <a:xfrm>
            <a:off x="3043238" y="1600200"/>
            <a:ext cx="1414463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アメニティ園田</a:t>
            </a:r>
            <a:endParaRPr sz="1100"/>
          </a:p>
        </p:txBody>
      </p:sp>
      <p:sp>
        <p:nvSpPr>
          <p:cNvPr id="199" name="Google Shape;199;p17"/>
          <p:cNvSpPr/>
          <p:nvPr/>
        </p:nvSpPr>
        <p:spPr>
          <a:xfrm>
            <a:off x="3043238" y="1814513"/>
            <a:ext cx="1414463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地域の大会・イベント情報が強く、掲示板的な親しみがある。</a:t>
            </a:r>
            <a:endParaRPr sz="1100"/>
          </a:p>
        </p:txBody>
      </p:sp>
      <p:sp>
        <p:nvSpPr>
          <p:cNvPr id="200" name="Google Shape;200;p17"/>
          <p:cNvSpPr/>
          <p:nvPr/>
        </p:nvSpPr>
        <p:spPr>
          <a:xfrm>
            <a:off x="4714875" y="1314450"/>
            <a:ext cx="1643063" cy="800100"/>
          </a:xfrm>
          <a:prstGeom prst="rect">
            <a:avLst/>
          </a:prstGeom>
          <a:solidFill>
            <a:srgbClr val="FFFFFF"/>
          </a:solidFill>
          <a:ln cap="flat" cmpd="sng" w="1047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4829175" y="1421606"/>
            <a:ext cx="14144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C77A14"/>
                </a:solidFill>
                <a:latin typeface="Arial"/>
                <a:ea typeface="Arial"/>
                <a:cs typeface="Arial"/>
                <a:sym typeface="Arial"/>
              </a:rPr>
              <a:t>大手競合</a:t>
            </a:r>
            <a:endParaRPr sz="1100"/>
          </a:p>
        </p:txBody>
      </p:sp>
      <p:sp>
        <p:nvSpPr>
          <p:cNvPr id="202" name="Google Shape;202;p17"/>
          <p:cNvSpPr/>
          <p:nvPr/>
        </p:nvSpPr>
        <p:spPr>
          <a:xfrm>
            <a:off x="4829175" y="1600200"/>
            <a:ext cx="1414463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ノア塚口</a:t>
            </a:r>
            <a:endParaRPr sz="1100"/>
          </a:p>
        </p:txBody>
      </p:sp>
      <p:sp>
        <p:nvSpPr>
          <p:cNvPr id="203" name="Google Shape;203;p17"/>
          <p:cNvSpPr/>
          <p:nvPr/>
        </p:nvSpPr>
        <p:spPr>
          <a:xfrm>
            <a:off x="4829175" y="1814513"/>
            <a:ext cx="1414463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完全インドアやレンタル等の便利さ。反面、チェーン感は施設ごとの差を想起されやすい。</a:t>
            </a:r>
            <a:endParaRPr sz="1100"/>
          </a:p>
        </p:txBody>
      </p:sp>
      <p:sp>
        <p:nvSpPr>
          <p:cNvPr id="204" name="Google Shape;204;p17"/>
          <p:cNvSpPr/>
          <p:nvPr/>
        </p:nvSpPr>
        <p:spPr>
          <a:xfrm>
            <a:off x="6500813" y="1314450"/>
            <a:ext cx="1643063" cy="800100"/>
          </a:xfrm>
          <a:prstGeom prst="rect">
            <a:avLst/>
          </a:prstGeom>
          <a:solidFill>
            <a:srgbClr val="E4F3EE"/>
          </a:solidFill>
          <a:ln cap="flat" cmpd="sng" w="10475">
            <a:solidFill>
              <a:srgbClr val="0A8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6615113" y="1421606"/>
            <a:ext cx="14144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テニプラの勝ち筋</a:t>
            </a:r>
            <a:endParaRPr sz="1100"/>
          </a:p>
        </p:txBody>
      </p:sp>
      <p:sp>
        <p:nvSpPr>
          <p:cNvPr id="206" name="Google Shape;206;p17"/>
          <p:cNvSpPr/>
          <p:nvPr/>
        </p:nvSpPr>
        <p:spPr>
          <a:xfrm>
            <a:off x="6615113" y="1600200"/>
            <a:ext cx="1414463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地域密着 × 清潔感</a:t>
            </a:r>
            <a:endParaRPr sz="1100"/>
          </a:p>
        </p:txBody>
      </p:sp>
      <p:sp>
        <p:nvSpPr>
          <p:cNvPr id="207" name="Google Shape;207;p17"/>
          <p:cNvSpPr/>
          <p:nvPr/>
        </p:nvSpPr>
        <p:spPr>
          <a:xfrm>
            <a:off x="6615113" y="1814513"/>
            <a:ext cx="1414463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館内の綺麗さ、顔の見える運営、ジュニア実績を一貫した見え方で出す。</a:t>
            </a:r>
            <a:endParaRPr sz="1100"/>
          </a:p>
        </p:txBody>
      </p:sp>
      <p:sp>
        <p:nvSpPr>
          <p:cNvPr id="208" name="Google Shape;208;p17"/>
          <p:cNvSpPr/>
          <p:nvPr/>
        </p:nvSpPr>
        <p:spPr>
          <a:xfrm>
            <a:off x="2928938" y="2328863"/>
            <a:ext cx="5407819" cy="1357313"/>
          </a:xfrm>
          <a:prstGeom prst="rect">
            <a:avLst/>
          </a:prstGeom>
          <a:solidFill>
            <a:srgbClr val="FFFFFF"/>
          </a:solidFill>
          <a:ln cap="flat" cmpd="sng" w="1047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3086100" y="2486025"/>
            <a:ext cx="71437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納品物</a:t>
            </a:r>
            <a:endParaRPr sz="1100"/>
          </a:p>
        </p:txBody>
      </p:sp>
      <p:sp>
        <p:nvSpPr>
          <p:cNvPr id="210" name="Google Shape;210;p17"/>
          <p:cNvSpPr/>
          <p:nvPr/>
        </p:nvSpPr>
        <p:spPr>
          <a:xfrm>
            <a:off x="3714750" y="2493169"/>
            <a:ext cx="3429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先方が自社で投稿しても、見栄えと訴求が崩れない型を渡す</a:t>
            </a:r>
            <a:endParaRPr sz="1100"/>
          </a:p>
        </p:txBody>
      </p:sp>
      <p:sp>
        <p:nvSpPr>
          <p:cNvPr id="211" name="Google Shape;211;p17"/>
          <p:cNvSpPr/>
          <p:nvPr/>
        </p:nvSpPr>
        <p:spPr>
          <a:xfrm>
            <a:off x="3086100" y="2728913"/>
            <a:ext cx="5100638" cy="32146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"/>
          <p:cNvSpPr/>
          <p:nvPr/>
        </p:nvSpPr>
        <p:spPr>
          <a:xfrm>
            <a:off x="3086100" y="2728913"/>
            <a:ext cx="614363" cy="321469"/>
          </a:xfrm>
          <a:prstGeom prst="rect">
            <a:avLst/>
          </a:prstGeom>
          <a:solidFill>
            <a:srgbClr val="E4F3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"/>
          <p:cNvSpPr/>
          <p:nvPr/>
        </p:nvSpPr>
        <p:spPr>
          <a:xfrm>
            <a:off x="3171825" y="2836069"/>
            <a:ext cx="44291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214" name="Google Shape;214;p17"/>
          <p:cNvSpPr/>
          <p:nvPr/>
        </p:nvSpPr>
        <p:spPr>
          <a:xfrm>
            <a:off x="3843338" y="2807494"/>
            <a:ext cx="10287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プロフィール設計</a:t>
            </a:r>
            <a:endParaRPr sz="1100"/>
          </a:p>
        </p:txBody>
      </p:sp>
      <p:sp>
        <p:nvSpPr>
          <p:cNvPr id="215" name="Google Shape;215;p17"/>
          <p:cNvSpPr/>
          <p:nvPr/>
        </p:nvSpPr>
        <p:spPr>
          <a:xfrm>
            <a:off x="4957763" y="2807494"/>
            <a:ext cx="3000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bio / 固定投稿 / ハイライト / HP導線 / UTM付きリンク</a:t>
            </a:r>
            <a:endParaRPr sz="1100"/>
          </a:p>
        </p:txBody>
      </p:sp>
      <p:sp>
        <p:nvSpPr>
          <p:cNvPr id="216" name="Google Shape;216;p17"/>
          <p:cNvSpPr/>
          <p:nvPr/>
        </p:nvSpPr>
        <p:spPr>
          <a:xfrm>
            <a:off x="3086100" y="3114675"/>
            <a:ext cx="5100638" cy="32146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7"/>
          <p:cNvSpPr/>
          <p:nvPr/>
        </p:nvSpPr>
        <p:spPr>
          <a:xfrm>
            <a:off x="3086100" y="3114675"/>
            <a:ext cx="614363" cy="321469"/>
          </a:xfrm>
          <a:prstGeom prst="rect">
            <a:avLst/>
          </a:prstGeom>
          <a:solidFill>
            <a:srgbClr val="E4F3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7"/>
          <p:cNvSpPr/>
          <p:nvPr/>
        </p:nvSpPr>
        <p:spPr>
          <a:xfrm>
            <a:off x="3171825" y="3221831"/>
            <a:ext cx="44291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219" name="Google Shape;219;p17"/>
          <p:cNvSpPr/>
          <p:nvPr/>
        </p:nvSpPr>
        <p:spPr>
          <a:xfrm>
            <a:off x="3843338" y="3193256"/>
            <a:ext cx="10287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フィードテンプレ</a:t>
            </a:r>
            <a:endParaRPr sz="1100"/>
          </a:p>
        </p:txBody>
      </p:sp>
      <p:sp>
        <p:nvSpPr>
          <p:cNvPr id="220" name="Google Shape;220;p17"/>
          <p:cNvSpPr/>
          <p:nvPr/>
        </p:nvSpPr>
        <p:spPr>
          <a:xfrm>
            <a:off x="4957763" y="3193256"/>
            <a:ext cx="3000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レッスン案内 / 特別イベント / キャンペーン / 施設紹介 / コーチ紹介</a:t>
            </a:r>
            <a:endParaRPr sz="1100"/>
          </a:p>
        </p:txBody>
      </p:sp>
      <p:sp>
        <p:nvSpPr>
          <p:cNvPr id="221" name="Google Shape;221;p17"/>
          <p:cNvSpPr/>
          <p:nvPr/>
        </p:nvSpPr>
        <p:spPr>
          <a:xfrm>
            <a:off x="3086100" y="3500438"/>
            <a:ext cx="5100638" cy="321469"/>
          </a:xfrm>
          <a:prstGeom prst="rect">
            <a:avLst/>
          </a:prstGeom>
          <a:solidFill>
            <a:srgbClr val="EEF6F3"/>
          </a:solidFill>
          <a:ln cap="flat" cmpd="sng" w="952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"/>
          <p:cNvSpPr/>
          <p:nvPr/>
        </p:nvSpPr>
        <p:spPr>
          <a:xfrm>
            <a:off x="3086100" y="3500438"/>
            <a:ext cx="614363" cy="321469"/>
          </a:xfrm>
          <a:prstGeom prst="rect">
            <a:avLst/>
          </a:prstGeom>
          <a:solidFill>
            <a:srgbClr val="E4F3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7"/>
          <p:cNvSpPr/>
          <p:nvPr/>
        </p:nvSpPr>
        <p:spPr>
          <a:xfrm>
            <a:off x="3171825" y="3607594"/>
            <a:ext cx="44291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224" name="Google Shape;224;p17"/>
          <p:cNvSpPr/>
          <p:nvPr/>
        </p:nvSpPr>
        <p:spPr>
          <a:xfrm>
            <a:off x="3843338" y="3579019"/>
            <a:ext cx="10287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施設素材撮影</a:t>
            </a:r>
            <a:endParaRPr sz="1100"/>
          </a:p>
        </p:txBody>
      </p:sp>
      <p:sp>
        <p:nvSpPr>
          <p:cNvPr id="225" name="Google Shape;225;p17"/>
          <p:cNvSpPr/>
          <p:nvPr/>
        </p:nvSpPr>
        <p:spPr>
          <a:xfrm>
            <a:off x="4957763" y="3579019"/>
            <a:ext cx="3000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館内の綺麗さ / 室内コート / レッスン風景 / 人の顔 / 実績素材</a:t>
            </a:r>
            <a:endParaRPr sz="1100"/>
          </a:p>
        </p:txBody>
      </p:sp>
      <p:sp>
        <p:nvSpPr>
          <p:cNvPr id="226" name="Google Shape;226;p17"/>
          <p:cNvSpPr/>
          <p:nvPr/>
        </p:nvSpPr>
        <p:spPr>
          <a:xfrm>
            <a:off x="2928938" y="3929063"/>
            <a:ext cx="5407819" cy="585788"/>
          </a:xfrm>
          <a:prstGeom prst="rect">
            <a:avLst/>
          </a:prstGeom>
          <a:solidFill>
            <a:srgbClr val="FFF4D8"/>
          </a:solidFill>
          <a:ln cap="flat" cmpd="sng" w="10475">
            <a:solidFill>
              <a:srgbClr val="E5C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2928938" y="3929063"/>
            <a:ext cx="57150" cy="585788"/>
          </a:xfrm>
          <a:prstGeom prst="rect">
            <a:avLst/>
          </a:prstGeom>
          <a:solidFill>
            <a:srgbClr val="C77A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3114675" y="4071938"/>
            <a:ext cx="9429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見るべき指標</a:t>
            </a:r>
            <a:endParaRPr sz="1100"/>
          </a:p>
        </p:txBody>
      </p:sp>
      <p:sp>
        <p:nvSpPr>
          <p:cNvPr id="229" name="Google Shape;229;p17"/>
          <p:cNvSpPr/>
          <p:nvPr/>
        </p:nvSpPr>
        <p:spPr>
          <a:xfrm>
            <a:off x="4000500" y="4043363"/>
            <a:ext cx="871538" cy="2000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C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4057650" y="4086225"/>
            <a:ext cx="757238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5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Instagram→HP</a:t>
            </a:r>
            <a:endParaRPr sz="1100"/>
          </a:p>
        </p:txBody>
      </p:sp>
      <p:sp>
        <p:nvSpPr>
          <p:cNvPr id="231" name="Google Shape;231;p17"/>
          <p:cNvSpPr/>
          <p:nvPr/>
        </p:nvSpPr>
        <p:spPr>
          <a:xfrm>
            <a:off x="4943475" y="4043363"/>
            <a:ext cx="828675" cy="2000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C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5000625" y="4086225"/>
            <a:ext cx="714375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5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プロフリンク</a:t>
            </a:r>
            <a:endParaRPr sz="1100"/>
          </a:p>
        </p:txBody>
      </p:sp>
      <p:sp>
        <p:nvSpPr>
          <p:cNvPr id="233" name="Google Shape;233;p17"/>
          <p:cNvSpPr/>
          <p:nvPr/>
        </p:nvSpPr>
        <p:spPr>
          <a:xfrm>
            <a:off x="5843588" y="4043363"/>
            <a:ext cx="685800" cy="2000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C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5900738" y="4086225"/>
            <a:ext cx="57150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5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固定投稿</a:t>
            </a:r>
            <a:endParaRPr sz="1100"/>
          </a:p>
        </p:txBody>
      </p:sp>
      <p:sp>
        <p:nvSpPr>
          <p:cNvPr id="235" name="Google Shape;235;p17"/>
          <p:cNvSpPr/>
          <p:nvPr/>
        </p:nvSpPr>
        <p:spPr>
          <a:xfrm>
            <a:off x="6600825" y="4043363"/>
            <a:ext cx="685800" cy="2000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C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/>
          <p:cNvSpPr/>
          <p:nvPr/>
        </p:nvSpPr>
        <p:spPr>
          <a:xfrm>
            <a:off x="6657975" y="4086225"/>
            <a:ext cx="57150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5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ハイライト</a:t>
            </a:r>
            <a:endParaRPr sz="1100"/>
          </a:p>
        </p:txBody>
      </p:sp>
      <p:sp>
        <p:nvSpPr>
          <p:cNvPr id="237" name="Google Shape;237;p17"/>
          <p:cNvSpPr/>
          <p:nvPr/>
        </p:nvSpPr>
        <p:spPr>
          <a:xfrm>
            <a:off x="7358063" y="4043363"/>
            <a:ext cx="685800" cy="2000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C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7415213" y="4086225"/>
            <a:ext cx="57150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5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投稿CTA</a:t>
            </a:r>
            <a:endParaRPr sz="1100"/>
          </a:p>
        </p:txBody>
      </p:sp>
      <p:sp>
        <p:nvSpPr>
          <p:cNvPr id="239" name="Google Shape;239;p17"/>
          <p:cNvSpPr/>
          <p:nvPr/>
        </p:nvSpPr>
        <p:spPr>
          <a:xfrm>
            <a:off x="3114675" y="4371975"/>
            <a:ext cx="4857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Plan Bの本質：地域で選ばれる安心感を、投稿・写真・導線の統一で可視化する。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6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"/>
          <p:cNvSpPr/>
          <p:nvPr/>
        </p:nvSpPr>
        <p:spPr>
          <a:xfrm>
            <a:off x="0" y="0"/>
            <a:ext cx="2607469" cy="5143500"/>
          </a:xfrm>
          <a:prstGeom prst="rect">
            <a:avLst/>
          </a:prstGeom>
          <a:solidFill>
            <a:srgbClr val="103A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442913" y="40005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F0B75C"/>
                </a:solidFill>
                <a:latin typeface="Arial"/>
                <a:ea typeface="Arial"/>
                <a:cs typeface="Arial"/>
                <a:sym typeface="Arial"/>
              </a:rPr>
              <a:t>PLAN C</a:t>
            </a:r>
            <a:endParaRPr sz="1100"/>
          </a:p>
        </p:txBody>
      </p:sp>
      <p:sp>
        <p:nvSpPr>
          <p:cNvPr id="247" name="Google Shape;247;p18"/>
          <p:cNvSpPr/>
          <p:nvPr/>
        </p:nvSpPr>
        <p:spPr>
          <a:xfrm>
            <a:off x="442913" y="742950"/>
            <a:ext cx="184308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地域に接触し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反応を測る</a:t>
            </a:r>
            <a:endParaRPr sz="1100"/>
          </a:p>
        </p:txBody>
      </p:sp>
      <p:sp>
        <p:nvSpPr>
          <p:cNvPr id="248" name="Google Shape;248;p18"/>
          <p:cNvSpPr/>
          <p:nvPr/>
        </p:nvSpPr>
        <p:spPr>
          <a:xfrm>
            <a:off x="442913" y="1771650"/>
            <a:ext cx="157162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900">
                <a:solidFill>
                  <a:srgbClr val="F0B75C"/>
                </a:solidFill>
                <a:latin typeface="Play"/>
                <a:ea typeface="Play"/>
                <a:cs typeface="Play"/>
                <a:sym typeface="Play"/>
              </a:rPr>
              <a:t>60万円目安</a:t>
            </a:r>
            <a:endParaRPr sz="1100"/>
          </a:p>
        </p:txBody>
      </p:sp>
      <p:sp>
        <p:nvSpPr>
          <p:cNvPr id="249" name="Google Shape;249;p18"/>
          <p:cNvSpPr/>
          <p:nvPr/>
        </p:nvSpPr>
        <p:spPr>
          <a:xfrm>
            <a:off x="442913" y="2271713"/>
            <a:ext cx="1685925" cy="14288"/>
          </a:xfrm>
          <a:prstGeom prst="rect">
            <a:avLst/>
          </a:prstGeom>
          <a:solidFill>
            <a:srgbClr val="496D6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442913" y="2471738"/>
            <a:ext cx="57150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F0B75C"/>
                </a:solidFill>
                <a:latin typeface="Arial"/>
                <a:ea typeface="Arial"/>
                <a:cs typeface="Arial"/>
                <a:sym typeface="Arial"/>
              </a:rPr>
              <a:t>目的</a:t>
            </a:r>
            <a:endParaRPr sz="1100"/>
          </a:p>
        </p:txBody>
      </p:sp>
      <p:sp>
        <p:nvSpPr>
          <p:cNvPr id="251" name="Google Shape;251;p18"/>
          <p:cNvSpPr/>
          <p:nvPr/>
        </p:nvSpPr>
        <p:spPr>
          <a:xfrm>
            <a:off x="442913" y="2686050"/>
            <a:ext cx="1785937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園田・塚口で「近い・見たことある・安心できる」を作り、チラシ経由のHP閲覧を検証する。</a:t>
            </a:r>
            <a:endParaRPr sz="1100"/>
          </a:p>
        </p:txBody>
      </p:sp>
      <p:sp>
        <p:nvSpPr>
          <p:cNvPr id="252" name="Google Shape;252;p18"/>
          <p:cNvSpPr/>
          <p:nvPr/>
        </p:nvSpPr>
        <p:spPr>
          <a:xfrm>
            <a:off x="442913" y="3550444"/>
            <a:ext cx="50006" cy="50006"/>
          </a:xfrm>
          <a:prstGeom prst="rect">
            <a:avLst/>
          </a:prstGeom>
          <a:solidFill>
            <a:srgbClr val="F0B75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8"/>
          <p:cNvSpPr/>
          <p:nvPr/>
        </p:nvSpPr>
        <p:spPr>
          <a:xfrm>
            <a:off x="571500" y="3507581"/>
            <a:ext cx="1657350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5,000枚で初回検証</a:t>
            </a:r>
            <a:endParaRPr sz="1100"/>
          </a:p>
        </p:txBody>
      </p:sp>
      <p:sp>
        <p:nvSpPr>
          <p:cNvPr id="254" name="Google Shape;254;p18"/>
          <p:cNvSpPr/>
          <p:nvPr/>
        </p:nvSpPr>
        <p:spPr>
          <a:xfrm>
            <a:off x="442913" y="3807619"/>
            <a:ext cx="50006" cy="50006"/>
          </a:xfrm>
          <a:prstGeom prst="rect">
            <a:avLst/>
          </a:prstGeom>
          <a:solidFill>
            <a:srgbClr val="F0B75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8"/>
          <p:cNvSpPr/>
          <p:nvPr/>
        </p:nvSpPr>
        <p:spPr>
          <a:xfrm>
            <a:off x="571500" y="3764756"/>
            <a:ext cx="1657350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配布面と訴求を分ける</a:t>
            </a:r>
            <a:endParaRPr sz="1100"/>
          </a:p>
        </p:txBody>
      </p:sp>
      <p:sp>
        <p:nvSpPr>
          <p:cNvPr id="256" name="Google Shape;256;p18"/>
          <p:cNvSpPr/>
          <p:nvPr/>
        </p:nvSpPr>
        <p:spPr>
          <a:xfrm>
            <a:off x="442913" y="4064794"/>
            <a:ext cx="50006" cy="50006"/>
          </a:xfrm>
          <a:prstGeom prst="rect">
            <a:avLst/>
          </a:prstGeom>
          <a:solidFill>
            <a:srgbClr val="F0B75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8"/>
          <p:cNvSpPr/>
          <p:nvPr/>
        </p:nvSpPr>
        <p:spPr>
          <a:xfrm>
            <a:off x="571500" y="4021931"/>
            <a:ext cx="1657350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QR特殊リンクでHP閲覧を計測</a:t>
            </a:r>
            <a:endParaRPr sz="1100"/>
          </a:p>
        </p:txBody>
      </p:sp>
      <p:sp>
        <p:nvSpPr>
          <p:cNvPr id="258" name="Google Shape;258;p18"/>
          <p:cNvSpPr/>
          <p:nvPr/>
        </p:nvSpPr>
        <p:spPr>
          <a:xfrm>
            <a:off x="7700963" y="357188"/>
            <a:ext cx="90011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4/5｜Plan C 詳細</a:t>
            </a:r>
            <a:endParaRPr sz="1100"/>
          </a:p>
        </p:txBody>
      </p:sp>
      <p:sp>
        <p:nvSpPr>
          <p:cNvPr id="259" name="Google Shape;259;p18"/>
          <p:cNvSpPr/>
          <p:nvPr/>
        </p:nvSpPr>
        <p:spPr>
          <a:xfrm>
            <a:off x="2928938" y="385763"/>
            <a:ext cx="5143500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10231D"/>
                </a:solidFill>
                <a:latin typeface="Play"/>
                <a:ea typeface="Play"/>
                <a:cs typeface="Play"/>
                <a:sym typeface="Play"/>
              </a:rPr>
              <a:t>Plan C｜5,000枚のポスティング検証で地域反応を見る</a:t>
            </a:r>
            <a:endParaRPr sz="1100"/>
          </a:p>
        </p:txBody>
      </p:sp>
      <p:sp>
        <p:nvSpPr>
          <p:cNvPr id="260" name="Google Shape;260;p18"/>
          <p:cNvSpPr/>
          <p:nvPr/>
        </p:nvSpPr>
        <p:spPr>
          <a:xfrm>
            <a:off x="2928938" y="685800"/>
            <a:ext cx="542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配布して終わりではなく、配布面・訴求・QR経由HP閲覧を見て次の集客判断につなげる</a:t>
            </a:r>
            <a:endParaRPr sz="1100"/>
          </a:p>
        </p:txBody>
      </p:sp>
      <p:sp>
        <p:nvSpPr>
          <p:cNvPr id="261" name="Google Shape;261;p18"/>
          <p:cNvSpPr/>
          <p:nvPr/>
        </p:nvSpPr>
        <p:spPr>
          <a:xfrm>
            <a:off x="2928938" y="1071563"/>
            <a:ext cx="1285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初回配布の前提</a:t>
            </a:r>
            <a:endParaRPr sz="1100"/>
          </a:p>
        </p:txBody>
      </p:sp>
      <p:sp>
        <p:nvSpPr>
          <p:cNvPr id="262" name="Google Shape;262;p18"/>
          <p:cNvSpPr/>
          <p:nvPr/>
        </p:nvSpPr>
        <p:spPr>
          <a:xfrm>
            <a:off x="2928938" y="1314450"/>
            <a:ext cx="2571750" cy="928688"/>
          </a:xfrm>
          <a:prstGeom prst="rect">
            <a:avLst/>
          </a:prstGeom>
          <a:solidFill>
            <a:srgbClr val="FFFFFF"/>
          </a:solidFill>
          <a:ln cap="flat" cmpd="sng" w="1047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8"/>
          <p:cNvSpPr/>
          <p:nvPr/>
        </p:nvSpPr>
        <p:spPr>
          <a:xfrm>
            <a:off x="3057525" y="1443038"/>
            <a:ext cx="2314575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A8B72"/>
                </a:solidFill>
                <a:latin typeface="Arial"/>
                <a:ea typeface="Arial"/>
                <a:cs typeface="Arial"/>
                <a:sym typeface="Arial"/>
              </a:rPr>
              <a:t>ジュニア親向け</a:t>
            </a:r>
            <a:endParaRPr sz="1100"/>
          </a:p>
        </p:txBody>
      </p:sp>
      <p:sp>
        <p:nvSpPr>
          <p:cNvPr id="264" name="Google Shape;264;p18"/>
          <p:cNvSpPr/>
          <p:nvPr/>
        </p:nvSpPr>
        <p:spPr>
          <a:xfrm>
            <a:off x="3057525" y="1643075"/>
            <a:ext cx="99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rgbClr val="0A8B72"/>
                </a:solidFill>
                <a:latin typeface="Play"/>
                <a:ea typeface="Play"/>
                <a:cs typeface="Play"/>
                <a:sym typeface="Play"/>
              </a:rPr>
              <a:t>2,500枚</a:t>
            </a:r>
            <a:endParaRPr sz="1100"/>
          </a:p>
        </p:txBody>
      </p:sp>
      <p:sp>
        <p:nvSpPr>
          <p:cNvPr id="265" name="Google Shape;265;p18"/>
          <p:cNvSpPr/>
          <p:nvPr/>
        </p:nvSpPr>
        <p:spPr>
          <a:xfrm>
            <a:off x="3986213" y="1671638"/>
            <a:ext cx="138588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学校・公園・住宅地</a:t>
            </a:r>
            <a:endParaRPr sz="1100"/>
          </a:p>
        </p:txBody>
      </p:sp>
      <p:sp>
        <p:nvSpPr>
          <p:cNvPr id="266" name="Google Shape;266;p18"/>
          <p:cNvSpPr/>
          <p:nvPr/>
        </p:nvSpPr>
        <p:spPr>
          <a:xfrm>
            <a:off x="3057525" y="1943100"/>
            <a:ext cx="231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訴求：上達 / 卒業生実績 / 室内 / 安心。親が習い事を探す生活導線に置く。</a:t>
            </a:r>
            <a:endParaRPr sz="1100"/>
          </a:p>
        </p:txBody>
      </p:sp>
      <p:sp>
        <p:nvSpPr>
          <p:cNvPr id="267" name="Google Shape;267;p18"/>
          <p:cNvSpPr/>
          <p:nvPr/>
        </p:nvSpPr>
        <p:spPr>
          <a:xfrm>
            <a:off x="5700713" y="1314450"/>
            <a:ext cx="2571750" cy="928688"/>
          </a:xfrm>
          <a:prstGeom prst="rect">
            <a:avLst/>
          </a:prstGeom>
          <a:solidFill>
            <a:srgbClr val="FFFBF1"/>
          </a:solidFill>
          <a:ln cap="flat" cmpd="sng" w="10475">
            <a:solidFill>
              <a:srgbClr val="E5C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8"/>
          <p:cNvSpPr/>
          <p:nvPr/>
        </p:nvSpPr>
        <p:spPr>
          <a:xfrm>
            <a:off x="5829300" y="1443038"/>
            <a:ext cx="2314575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C77A14"/>
                </a:solidFill>
                <a:latin typeface="Arial"/>
                <a:ea typeface="Arial"/>
                <a:cs typeface="Arial"/>
                <a:sym typeface="Arial"/>
              </a:rPr>
              <a:t>40代以降向け</a:t>
            </a:r>
            <a:endParaRPr sz="1100"/>
          </a:p>
        </p:txBody>
      </p:sp>
      <p:sp>
        <p:nvSpPr>
          <p:cNvPr id="269" name="Google Shape;269;p18"/>
          <p:cNvSpPr/>
          <p:nvPr/>
        </p:nvSpPr>
        <p:spPr>
          <a:xfrm>
            <a:off x="5829300" y="1643075"/>
            <a:ext cx="99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rgbClr val="C77A14"/>
                </a:solidFill>
                <a:latin typeface="Play"/>
                <a:ea typeface="Play"/>
                <a:cs typeface="Play"/>
                <a:sym typeface="Play"/>
              </a:rPr>
              <a:t>2,500枚</a:t>
            </a:r>
            <a:endParaRPr sz="1100"/>
          </a:p>
        </p:txBody>
      </p:sp>
      <p:sp>
        <p:nvSpPr>
          <p:cNvPr id="270" name="Google Shape;270;p18"/>
          <p:cNvSpPr/>
          <p:nvPr/>
        </p:nvSpPr>
        <p:spPr>
          <a:xfrm>
            <a:off x="6757988" y="1671638"/>
            <a:ext cx="138588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駅・スーパー・住宅地</a:t>
            </a:r>
            <a:endParaRPr sz="1100"/>
          </a:p>
        </p:txBody>
      </p:sp>
      <p:sp>
        <p:nvSpPr>
          <p:cNvPr id="271" name="Google Shape;271;p18"/>
          <p:cNvSpPr/>
          <p:nvPr/>
        </p:nvSpPr>
        <p:spPr>
          <a:xfrm>
            <a:off x="5829300" y="1943100"/>
            <a:ext cx="231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訴求：初心者OK / 運動習慣 / 平日昼 / 近さ / 清潔感。来場の心理的ハードルを下げる。</a:t>
            </a:r>
            <a:endParaRPr sz="1100"/>
          </a:p>
        </p:txBody>
      </p:sp>
      <p:sp>
        <p:nvSpPr>
          <p:cNvPr id="272" name="Google Shape;272;p18"/>
          <p:cNvSpPr/>
          <p:nvPr/>
        </p:nvSpPr>
        <p:spPr>
          <a:xfrm>
            <a:off x="2939663" y="2514600"/>
            <a:ext cx="5407800" cy="928800"/>
          </a:xfrm>
          <a:prstGeom prst="rect">
            <a:avLst/>
          </a:prstGeom>
          <a:solidFill>
            <a:srgbClr val="FFFFFF"/>
          </a:solidFill>
          <a:ln cap="flat" cmpd="sng" w="1047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>
            <a:off x="3086100" y="2600325"/>
            <a:ext cx="92868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本体スコープ</a:t>
            </a:r>
            <a:endParaRPr sz="1100"/>
          </a:p>
        </p:txBody>
      </p:sp>
      <p:sp>
        <p:nvSpPr>
          <p:cNvPr id="274" name="Google Shape;274;p18"/>
          <p:cNvSpPr/>
          <p:nvPr/>
        </p:nvSpPr>
        <p:spPr>
          <a:xfrm>
            <a:off x="3114675" y="2850356"/>
            <a:ext cx="30003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275" name="Google Shape;275;p18"/>
          <p:cNvSpPr/>
          <p:nvPr/>
        </p:nvSpPr>
        <p:spPr>
          <a:xfrm>
            <a:off x="3543300" y="2843213"/>
            <a:ext cx="1071563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配布仮説設計</a:t>
            </a:r>
            <a:endParaRPr sz="1100"/>
          </a:p>
        </p:txBody>
      </p:sp>
      <p:sp>
        <p:nvSpPr>
          <p:cNvPr id="276" name="Google Shape;276;p18"/>
          <p:cNvSpPr/>
          <p:nvPr/>
        </p:nvSpPr>
        <p:spPr>
          <a:xfrm>
            <a:off x="4643438" y="2843213"/>
            <a:ext cx="3429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園田・塚口を駅周辺 / 住宅地 / 学校・公園 / スーパー周辺で整理</a:t>
            </a:r>
            <a:endParaRPr sz="1100"/>
          </a:p>
        </p:txBody>
      </p:sp>
      <p:sp>
        <p:nvSpPr>
          <p:cNvPr id="277" name="Google Shape;277;p18"/>
          <p:cNvSpPr/>
          <p:nvPr/>
        </p:nvSpPr>
        <p:spPr>
          <a:xfrm>
            <a:off x="3114675" y="3050381"/>
            <a:ext cx="30003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278" name="Google Shape;278;p18"/>
          <p:cNvSpPr/>
          <p:nvPr/>
        </p:nvSpPr>
        <p:spPr>
          <a:xfrm>
            <a:off x="3543300" y="3043238"/>
            <a:ext cx="1071563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ペルソナ別フライヤー</a:t>
            </a:r>
            <a:endParaRPr sz="1100"/>
          </a:p>
        </p:txBody>
      </p:sp>
      <p:sp>
        <p:nvSpPr>
          <p:cNvPr id="279" name="Google Shape;279;p18"/>
          <p:cNvSpPr/>
          <p:nvPr/>
        </p:nvSpPr>
        <p:spPr>
          <a:xfrm>
            <a:off x="4643438" y="3043238"/>
            <a:ext cx="3429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ジュニア親向けと40代以降向けで訴求・写真・CTAを分ける</a:t>
            </a:r>
            <a:endParaRPr sz="1100"/>
          </a:p>
        </p:txBody>
      </p:sp>
      <p:sp>
        <p:nvSpPr>
          <p:cNvPr id="280" name="Google Shape;280;p18"/>
          <p:cNvSpPr/>
          <p:nvPr/>
        </p:nvSpPr>
        <p:spPr>
          <a:xfrm>
            <a:off x="3114675" y="3250406"/>
            <a:ext cx="30003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281" name="Google Shape;281;p18"/>
          <p:cNvSpPr/>
          <p:nvPr/>
        </p:nvSpPr>
        <p:spPr>
          <a:xfrm>
            <a:off x="3543300" y="3243263"/>
            <a:ext cx="1071563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QR計測設計</a:t>
            </a:r>
            <a:endParaRPr sz="1100"/>
          </a:p>
        </p:txBody>
      </p:sp>
      <p:sp>
        <p:nvSpPr>
          <p:cNvPr id="282" name="Google Shape;282;p18"/>
          <p:cNvSpPr/>
          <p:nvPr/>
        </p:nvSpPr>
        <p:spPr>
          <a:xfrm>
            <a:off x="4643438" y="3243263"/>
            <a:ext cx="3429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特殊リンク入りQRで、チラシからHPを見られた数を計測する</a:t>
            </a:r>
            <a:endParaRPr sz="1100"/>
          </a:p>
        </p:txBody>
      </p:sp>
      <p:sp>
        <p:nvSpPr>
          <p:cNvPr id="283" name="Google Shape;283;p18"/>
          <p:cNvSpPr/>
          <p:nvPr/>
        </p:nvSpPr>
        <p:spPr>
          <a:xfrm>
            <a:off x="2961000" y="3575463"/>
            <a:ext cx="2571900" cy="757200"/>
          </a:xfrm>
          <a:prstGeom prst="rect">
            <a:avLst/>
          </a:prstGeom>
          <a:solidFill>
            <a:srgbClr val="FFF4D8"/>
          </a:solidFill>
          <a:ln cap="flat" cmpd="sng" w="10475">
            <a:solidFill>
              <a:srgbClr val="E5C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8"/>
          <p:cNvSpPr/>
          <p:nvPr/>
        </p:nvSpPr>
        <p:spPr>
          <a:xfrm>
            <a:off x="2928938" y="3571875"/>
            <a:ext cx="57150" cy="757238"/>
          </a:xfrm>
          <a:prstGeom prst="rect">
            <a:avLst/>
          </a:prstGeom>
          <a:solidFill>
            <a:srgbClr val="C77A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8"/>
          <p:cNvSpPr/>
          <p:nvPr/>
        </p:nvSpPr>
        <p:spPr>
          <a:xfrm>
            <a:off x="3096813" y="3575450"/>
            <a:ext cx="1071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外部実費の目安</a:t>
            </a:r>
            <a:endParaRPr sz="1100"/>
          </a:p>
        </p:txBody>
      </p:sp>
      <p:sp>
        <p:nvSpPr>
          <p:cNvPr id="286" name="Google Shape;286;p18"/>
          <p:cNvSpPr/>
          <p:nvPr/>
        </p:nvSpPr>
        <p:spPr>
          <a:xfrm>
            <a:off x="3103525" y="3764738"/>
            <a:ext cx="1035900" cy="5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C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3214713" y="3793388"/>
            <a:ext cx="835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C77A14"/>
                </a:solidFill>
                <a:latin typeface="Arial"/>
                <a:ea typeface="Arial"/>
                <a:cs typeface="Arial"/>
                <a:sym typeface="Arial"/>
              </a:rPr>
              <a:t>配布会社</a:t>
            </a:r>
            <a:endParaRPr sz="1100"/>
          </a:p>
        </p:txBody>
      </p:sp>
      <p:sp>
        <p:nvSpPr>
          <p:cNvPr id="288" name="Google Shape;288;p18"/>
          <p:cNvSpPr/>
          <p:nvPr/>
        </p:nvSpPr>
        <p:spPr>
          <a:xfrm>
            <a:off x="3214713" y="3921975"/>
            <a:ext cx="835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2〜5万円</a:t>
            </a:r>
            <a:endParaRPr sz="1100"/>
          </a:p>
        </p:txBody>
      </p:sp>
      <p:sp>
        <p:nvSpPr>
          <p:cNvPr id="289" name="Google Shape;289;p18"/>
          <p:cNvSpPr/>
          <p:nvPr/>
        </p:nvSpPr>
        <p:spPr>
          <a:xfrm>
            <a:off x="3214713" y="4086281"/>
            <a:ext cx="8358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5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5,000枚の配布費</a:t>
            </a:r>
            <a:endParaRPr sz="1100"/>
          </a:p>
        </p:txBody>
      </p:sp>
      <p:sp>
        <p:nvSpPr>
          <p:cNvPr id="290" name="Google Shape;290;p18"/>
          <p:cNvSpPr/>
          <p:nvPr/>
        </p:nvSpPr>
        <p:spPr>
          <a:xfrm>
            <a:off x="4256838" y="3764738"/>
            <a:ext cx="1035900" cy="5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C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4356850" y="3793388"/>
            <a:ext cx="835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C77A14"/>
                </a:solidFill>
                <a:latin typeface="Arial"/>
                <a:ea typeface="Arial"/>
                <a:cs typeface="Arial"/>
                <a:sym typeface="Arial"/>
              </a:rPr>
              <a:t>印刷＋配布</a:t>
            </a:r>
            <a:endParaRPr sz="1100"/>
          </a:p>
        </p:txBody>
      </p:sp>
      <p:sp>
        <p:nvSpPr>
          <p:cNvPr id="292" name="Google Shape;292;p18"/>
          <p:cNvSpPr/>
          <p:nvPr/>
        </p:nvSpPr>
        <p:spPr>
          <a:xfrm>
            <a:off x="4356850" y="3921975"/>
            <a:ext cx="835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4〜9万円</a:t>
            </a:r>
            <a:endParaRPr sz="1100"/>
          </a:p>
        </p:txBody>
      </p:sp>
      <p:sp>
        <p:nvSpPr>
          <p:cNvPr id="293" name="Google Shape;293;p18"/>
          <p:cNvSpPr/>
          <p:nvPr/>
        </p:nvSpPr>
        <p:spPr>
          <a:xfrm>
            <a:off x="4356850" y="4086281"/>
            <a:ext cx="8358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5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初回検証の実費感</a:t>
            </a:r>
            <a:endParaRPr sz="1100"/>
          </a:p>
        </p:txBody>
      </p:sp>
      <p:sp>
        <p:nvSpPr>
          <p:cNvPr id="294" name="Google Shape;294;p18"/>
          <p:cNvSpPr/>
          <p:nvPr/>
        </p:nvSpPr>
        <p:spPr>
          <a:xfrm>
            <a:off x="5700713" y="3571875"/>
            <a:ext cx="2636044" cy="757238"/>
          </a:xfrm>
          <a:prstGeom prst="rect">
            <a:avLst/>
          </a:prstGeom>
          <a:solidFill>
            <a:srgbClr val="E4F3EE"/>
          </a:solidFill>
          <a:ln cap="flat" cmpd="sng" w="10475">
            <a:solidFill>
              <a:srgbClr val="0A8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8"/>
          <p:cNvSpPr/>
          <p:nvPr/>
        </p:nvSpPr>
        <p:spPr>
          <a:xfrm>
            <a:off x="5861250" y="3579025"/>
            <a:ext cx="12144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別予算オプション</a:t>
            </a:r>
            <a:endParaRPr sz="1100"/>
          </a:p>
        </p:txBody>
      </p:sp>
      <p:sp>
        <p:nvSpPr>
          <p:cNvPr id="296" name="Google Shape;296;p18"/>
          <p:cNvSpPr/>
          <p:nvPr/>
        </p:nvSpPr>
        <p:spPr>
          <a:xfrm>
            <a:off x="5886425" y="3786288"/>
            <a:ext cx="21432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Instagram / Meta広告の地域限定配信</a:t>
            </a:r>
            <a:endParaRPr sz="1100"/>
          </a:p>
        </p:txBody>
      </p:sp>
      <p:sp>
        <p:nvSpPr>
          <p:cNvPr id="297" name="Google Shape;297;p18"/>
          <p:cNvSpPr/>
          <p:nvPr/>
        </p:nvSpPr>
        <p:spPr>
          <a:xfrm>
            <a:off x="5886425" y="3979475"/>
            <a:ext cx="22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ポスティング後、園田・塚口周辺に同じ訴求・ビジュアルで追いかけ、“見たことある感”を作る。</a:t>
            </a:r>
            <a:endParaRPr sz="1100"/>
          </a:p>
        </p:txBody>
      </p:sp>
      <p:sp>
        <p:nvSpPr>
          <p:cNvPr id="298" name="Google Shape;298;p18"/>
          <p:cNvSpPr/>
          <p:nvPr/>
        </p:nvSpPr>
        <p:spPr>
          <a:xfrm>
            <a:off x="3114675" y="4543425"/>
            <a:ext cx="492918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Plan Cの本質：地域に接触するだけでなく、どの面・どの訴求がHP閲覧につながったかを検証する。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8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9"/>
          <p:cNvSpPr/>
          <p:nvPr/>
        </p:nvSpPr>
        <p:spPr>
          <a:xfrm>
            <a:off x="500062" y="385763"/>
            <a:ext cx="5572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rgbClr val="10231D"/>
                </a:solidFill>
                <a:latin typeface="Play"/>
                <a:ea typeface="Play"/>
                <a:cs typeface="Play"/>
                <a:sym typeface="Play"/>
              </a:rPr>
              <a:t>まとめ｜まずPlan Aで「効いたか分かる土壌」を作る</a:t>
            </a:r>
            <a:endParaRPr sz="1100"/>
          </a:p>
        </p:txBody>
      </p:sp>
      <p:sp>
        <p:nvSpPr>
          <p:cNvPr id="305" name="Google Shape;305;p19"/>
          <p:cNvSpPr/>
          <p:nvPr/>
        </p:nvSpPr>
        <p:spPr>
          <a:xfrm>
            <a:off x="500063" y="685800"/>
            <a:ext cx="671512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Instagram・ポスティングを強くしても、HP側のCVが測れなければ施策の良し悪しを判断できない。</a:t>
            </a:r>
            <a:endParaRPr sz="1100"/>
          </a:p>
        </p:txBody>
      </p:sp>
      <p:sp>
        <p:nvSpPr>
          <p:cNvPr id="306" name="Google Shape;306;p19"/>
          <p:cNvSpPr/>
          <p:nvPr/>
        </p:nvSpPr>
        <p:spPr>
          <a:xfrm>
            <a:off x="7215188" y="471488"/>
            <a:ext cx="121443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5/5｜社内判断まとめ</a:t>
            </a:r>
            <a:endParaRPr sz="1100"/>
          </a:p>
        </p:txBody>
      </p:sp>
      <p:sp>
        <p:nvSpPr>
          <p:cNvPr id="307" name="Google Shape;307;p19"/>
          <p:cNvSpPr/>
          <p:nvPr/>
        </p:nvSpPr>
        <p:spPr>
          <a:xfrm>
            <a:off x="514350" y="1085850"/>
            <a:ext cx="7772400" cy="2041800"/>
          </a:xfrm>
          <a:prstGeom prst="rect">
            <a:avLst/>
          </a:prstGeom>
          <a:solidFill>
            <a:srgbClr val="FFFFFF"/>
          </a:solidFill>
          <a:ln cap="flat" cmpd="sng" w="1047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9"/>
          <p:cNvSpPr/>
          <p:nvPr/>
        </p:nvSpPr>
        <p:spPr>
          <a:xfrm>
            <a:off x="742950" y="1243013"/>
            <a:ext cx="30718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流入施策は、最後にHP・予約導線で受け止める</a:t>
            </a:r>
            <a:endParaRPr sz="1100"/>
          </a:p>
        </p:txBody>
      </p:sp>
      <p:sp>
        <p:nvSpPr>
          <p:cNvPr id="309" name="Google Shape;309;p19"/>
          <p:cNvSpPr/>
          <p:nvPr/>
        </p:nvSpPr>
        <p:spPr>
          <a:xfrm>
            <a:off x="800100" y="1600200"/>
            <a:ext cx="1500188" cy="557213"/>
          </a:xfrm>
          <a:prstGeom prst="rect">
            <a:avLst/>
          </a:prstGeom>
          <a:solidFill>
            <a:srgbClr val="E4F3EE"/>
          </a:solidFill>
          <a:ln cap="flat" cmpd="sng" w="11425">
            <a:solidFill>
              <a:srgbClr val="0A8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9"/>
          <p:cNvSpPr/>
          <p:nvPr/>
        </p:nvSpPr>
        <p:spPr>
          <a:xfrm>
            <a:off x="942975" y="1728788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Plan B</a:t>
            </a:r>
            <a:endParaRPr sz="1100"/>
          </a:p>
        </p:txBody>
      </p:sp>
      <p:sp>
        <p:nvSpPr>
          <p:cNvPr id="311" name="Google Shape;311;p19"/>
          <p:cNvSpPr/>
          <p:nvPr/>
        </p:nvSpPr>
        <p:spPr>
          <a:xfrm>
            <a:off x="942975" y="1885950"/>
            <a:ext cx="1143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Instagram設計</a:t>
            </a:r>
            <a:endParaRPr sz="1100"/>
          </a:p>
        </p:txBody>
      </p:sp>
      <p:sp>
        <p:nvSpPr>
          <p:cNvPr id="312" name="Google Shape;312;p19"/>
          <p:cNvSpPr/>
          <p:nvPr/>
        </p:nvSpPr>
        <p:spPr>
          <a:xfrm>
            <a:off x="800100" y="2371725"/>
            <a:ext cx="1500188" cy="557213"/>
          </a:xfrm>
          <a:prstGeom prst="rect">
            <a:avLst/>
          </a:prstGeom>
          <a:solidFill>
            <a:srgbClr val="FFF4D8"/>
          </a:solidFill>
          <a:ln cap="flat" cmpd="sng" w="11425">
            <a:solidFill>
              <a:srgbClr val="E5C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9"/>
          <p:cNvSpPr/>
          <p:nvPr/>
        </p:nvSpPr>
        <p:spPr>
          <a:xfrm>
            <a:off x="942975" y="2500313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C77A14"/>
                </a:solidFill>
                <a:latin typeface="Arial"/>
                <a:ea typeface="Arial"/>
                <a:cs typeface="Arial"/>
                <a:sym typeface="Arial"/>
              </a:rPr>
              <a:t>Plan C</a:t>
            </a:r>
            <a:endParaRPr sz="1100"/>
          </a:p>
        </p:txBody>
      </p:sp>
      <p:sp>
        <p:nvSpPr>
          <p:cNvPr id="314" name="Google Shape;314;p19"/>
          <p:cNvSpPr/>
          <p:nvPr/>
        </p:nvSpPr>
        <p:spPr>
          <a:xfrm>
            <a:off x="942975" y="2657475"/>
            <a:ext cx="1143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地域配布検証</a:t>
            </a:r>
            <a:endParaRPr sz="1100"/>
          </a:p>
        </p:txBody>
      </p:sp>
      <p:cxnSp>
        <p:nvCxnSpPr>
          <p:cNvPr id="315" name="Google Shape;315;p19"/>
          <p:cNvCxnSpPr/>
          <p:nvPr/>
        </p:nvCxnSpPr>
        <p:spPr>
          <a:xfrm>
            <a:off x="2428875" y="1885950"/>
            <a:ext cx="1228725" cy="0"/>
          </a:xfrm>
          <a:prstGeom prst="straightConnector1">
            <a:avLst/>
          </a:prstGeom>
          <a:noFill/>
          <a:ln cap="flat" cmpd="sng" w="28575">
            <a:solidFill>
              <a:srgbClr val="0A8B7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19"/>
          <p:cNvCxnSpPr/>
          <p:nvPr/>
        </p:nvCxnSpPr>
        <p:spPr>
          <a:xfrm flipH="1" rot="10800000">
            <a:off x="2428875" y="2143125"/>
            <a:ext cx="1228725" cy="514350"/>
          </a:xfrm>
          <a:prstGeom prst="straightConnector1">
            <a:avLst/>
          </a:prstGeom>
          <a:noFill/>
          <a:ln cap="flat" cmpd="sng" w="28575">
            <a:solidFill>
              <a:srgbClr val="C77A1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19"/>
          <p:cNvSpPr/>
          <p:nvPr/>
        </p:nvSpPr>
        <p:spPr>
          <a:xfrm>
            <a:off x="2728913" y="1685925"/>
            <a:ext cx="4000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流入</a:t>
            </a:r>
            <a:endParaRPr sz="1100"/>
          </a:p>
        </p:txBody>
      </p:sp>
      <p:sp>
        <p:nvSpPr>
          <p:cNvPr id="318" name="Google Shape;318;p19"/>
          <p:cNvSpPr/>
          <p:nvPr/>
        </p:nvSpPr>
        <p:spPr>
          <a:xfrm>
            <a:off x="2686050" y="2486025"/>
            <a:ext cx="500063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C77A14"/>
                </a:solidFill>
                <a:latin typeface="Arial"/>
                <a:ea typeface="Arial"/>
                <a:cs typeface="Arial"/>
                <a:sym typeface="Arial"/>
              </a:rPr>
              <a:t>地域反応</a:t>
            </a:r>
            <a:endParaRPr sz="1100"/>
          </a:p>
        </p:txBody>
      </p:sp>
      <p:sp>
        <p:nvSpPr>
          <p:cNvPr id="319" name="Google Shape;319;p19"/>
          <p:cNvSpPr/>
          <p:nvPr/>
        </p:nvSpPr>
        <p:spPr>
          <a:xfrm>
            <a:off x="3821906" y="1471613"/>
            <a:ext cx="2035969" cy="1014413"/>
          </a:xfrm>
          <a:prstGeom prst="rect">
            <a:avLst/>
          </a:prstGeom>
          <a:solidFill>
            <a:srgbClr val="063D34"/>
          </a:solidFill>
          <a:ln cap="flat" cmpd="sng" w="11425">
            <a:solidFill>
              <a:srgbClr val="063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9"/>
          <p:cNvSpPr/>
          <p:nvPr/>
        </p:nvSpPr>
        <p:spPr>
          <a:xfrm>
            <a:off x="4021931" y="1657350"/>
            <a:ext cx="16430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HP / 予約 / LINE / 電話</a:t>
            </a:r>
            <a:endParaRPr sz="1100"/>
          </a:p>
        </p:txBody>
      </p:sp>
      <p:sp>
        <p:nvSpPr>
          <p:cNvPr id="321" name="Google Shape;321;p19"/>
          <p:cNvSpPr/>
          <p:nvPr/>
        </p:nvSpPr>
        <p:spPr>
          <a:xfrm>
            <a:off x="4021931" y="1957388"/>
            <a:ext cx="1607344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DFF5EE"/>
                </a:solidFill>
                <a:latin typeface="Arial"/>
                <a:ea typeface="Arial"/>
                <a:cs typeface="Arial"/>
                <a:sym typeface="Arial"/>
              </a:rPr>
              <a:t>ここでCVが測れないと、B/Cの効果もHP側の詰まりも切り分けられない</a:t>
            </a:r>
            <a:endParaRPr sz="1100"/>
          </a:p>
        </p:txBody>
      </p:sp>
      <p:cxnSp>
        <p:nvCxnSpPr>
          <p:cNvPr id="322" name="Google Shape;322;p19"/>
          <p:cNvCxnSpPr/>
          <p:nvPr/>
        </p:nvCxnSpPr>
        <p:spPr>
          <a:xfrm>
            <a:off x="5972175" y="1978819"/>
            <a:ext cx="728663" cy="0"/>
          </a:xfrm>
          <a:prstGeom prst="straightConnector1">
            <a:avLst/>
          </a:prstGeom>
          <a:noFill/>
          <a:ln cap="flat" cmpd="sng" w="28575">
            <a:solidFill>
              <a:srgbClr val="0A8B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9"/>
          <p:cNvSpPr/>
          <p:nvPr/>
        </p:nvSpPr>
        <p:spPr>
          <a:xfrm>
            <a:off x="6843713" y="1528763"/>
            <a:ext cx="1143000" cy="900113"/>
          </a:xfrm>
          <a:prstGeom prst="rect">
            <a:avLst/>
          </a:prstGeom>
          <a:solidFill>
            <a:srgbClr val="FFFFFF"/>
          </a:solidFill>
          <a:ln cap="flat" cmpd="sng" w="1047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9"/>
          <p:cNvSpPr/>
          <p:nvPr/>
        </p:nvSpPr>
        <p:spPr>
          <a:xfrm>
            <a:off x="6986588" y="1671638"/>
            <a:ext cx="8572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判断できること</a:t>
            </a:r>
            <a:endParaRPr sz="1100"/>
          </a:p>
        </p:txBody>
      </p:sp>
      <p:sp>
        <p:nvSpPr>
          <p:cNvPr id="325" name="Google Shape;325;p19"/>
          <p:cNvSpPr/>
          <p:nvPr/>
        </p:nvSpPr>
        <p:spPr>
          <a:xfrm>
            <a:off x="6986588" y="1871663"/>
            <a:ext cx="85725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流入元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ペルソナ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CV導線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7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HPの詰まり</a:t>
            </a:r>
            <a:endParaRPr sz="1100"/>
          </a:p>
        </p:txBody>
      </p:sp>
      <p:sp>
        <p:nvSpPr>
          <p:cNvPr id="326" name="Google Shape;326;p19"/>
          <p:cNvSpPr/>
          <p:nvPr/>
        </p:nvSpPr>
        <p:spPr>
          <a:xfrm>
            <a:off x="514350" y="3214688"/>
            <a:ext cx="2357438" cy="685800"/>
          </a:xfrm>
          <a:prstGeom prst="rect">
            <a:avLst/>
          </a:prstGeom>
          <a:solidFill>
            <a:srgbClr val="FFFFFF"/>
          </a:solidFill>
          <a:ln cap="flat" cmpd="sng" w="1047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9"/>
          <p:cNvSpPr/>
          <p:nvPr/>
        </p:nvSpPr>
        <p:spPr>
          <a:xfrm>
            <a:off x="514350" y="3214688"/>
            <a:ext cx="42863" cy="685800"/>
          </a:xfrm>
          <a:prstGeom prst="rect">
            <a:avLst/>
          </a:prstGeom>
          <a:solidFill>
            <a:srgbClr val="0A8B7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9"/>
          <p:cNvSpPr/>
          <p:nvPr/>
        </p:nvSpPr>
        <p:spPr>
          <a:xfrm>
            <a:off x="671513" y="3343275"/>
            <a:ext cx="204311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なぜAが先決か</a:t>
            </a:r>
            <a:endParaRPr sz="1100"/>
          </a:p>
        </p:txBody>
      </p:sp>
      <p:sp>
        <p:nvSpPr>
          <p:cNvPr id="329" name="Google Shape;329;p19"/>
          <p:cNvSpPr/>
          <p:nvPr/>
        </p:nvSpPr>
        <p:spPr>
          <a:xfrm>
            <a:off x="671513" y="3557588"/>
            <a:ext cx="2043113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B/Cは接触と信頼を作る施策。成果地点であるHP側を測れないと、投資判断が感覚論になる。</a:t>
            </a:r>
            <a:endParaRPr sz="1100"/>
          </a:p>
        </p:txBody>
      </p:sp>
      <p:sp>
        <p:nvSpPr>
          <p:cNvPr id="330" name="Google Shape;330;p19"/>
          <p:cNvSpPr/>
          <p:nvPr/>
        </p:nvSpPr>
        <p:spPr>
          <a:xfrm>
            <a:off x="3071813" y="3214688"/>
            <a:ext cx="2357438" cy="685800"/>
          </a:xfrm>
          <a:prstGeom prst="rect">
            <a:avLst/>
          </a:prstGeom>
          <a:solidFill>
            <a:srgbClr val="FFFFFF"/>
          </a:solidFill>
          <a:ln cap="flat" cmpd="sng" w="10475">
            <a:solidFill>
              <a:srgbClr val="D7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9"/>
          <p:cNvSpPr/>
          <p:nvPr/>
        </p:nvSpPr>
        <p:spPr>
          <a:xfrm>
            <a:off x="3071813" y="3214688"/>
            <a:ext cx="42863" cy="685800"/>
          </a:xfrm>
          <a:prstGeom prst="rect">
            <a:avLst/>
          </a:prstGeom>
          <a:solidFill>
            <a:srgbClr val="063D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9"/>
          <p:cNvSpPr/>
          <p:nvPr/>
        </p:nvSpPr>
        <p:spPr>
          <a:xfrm>
            <a:off x="3228975" y="3343275"/>
            <a:ext cx="204311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Aで見えるようになるもの</a:t>
            </a:r>
            <a:endParaRPr sz="1100"/>
          </a:p>
        </p:txBody>
      </p:sp>
      <p:sp>
        <p:nvSpPr>
          <p:cNvPr id="333" name="Google Shape;333;p19"/>
          <p:cNvSpPr/>
          <p:nvPr/>
        </p:nvSpPr>
        <p:spPr>
          <a:xfrm>
            <a:off x="3228975" y="3557588"/>
            <a:ext cx="2043113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予約・電話・LINE・体験申込・料金確認・アクセス確認を見て、どの導線が効いているかを判断する。</a:t>
            </a:r>
            <a:endParaRPr sz="1100"/>
          </a:p>
        </p:txBody>
      </p:sp>
      <p:sp>
        <p:nvSpPr>
          <p:cNvPr id="334" name="Google Shape;334;p19"/>
          <p:cNvSpPr/>
          <p:nvPr/>
        </p:nvSpPr>
        <p:spPr>
          <a:xfrm>
            <a:off x="5629275" y="3214688"/>
            <a:ext cx="2357438" cy="685800"/>
          </a:xfrm>
          <a:prstGeom prst="rect">
            <a:avLst/>
          </a:prstGeom>
          <a:solidFill>
            <a:srgbClr val="FFFBF1"/>
          </a:solidFill>
          <a:ln cap="flat" cmpd="sng" w="10475">
            <a:solidFill>
              <a:srgbClr val="E5C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5629275" y="3214688"/>
            <a:ext cx="42863" cy="685800"/>
          </a:xfrm>
          <a:prstGeom prst="rect">
            <a:avLst/>
          </a:prstGeom>
          <a:solidFill>
            <a:srgbClr val="C77A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9"/>
          <p:cNvSpPr/>
          <p:nvPr/>
        </p:nvSpPr>
        <p:spPr>
          <a:xfrm>
            <a:off x="5786438" y="3343275"/>
            <a:ext cx="204311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00">
                <a:solidFill>
                  <a:srgbClr val="10231D"/>
                </a:solidFill>
                <a:latin typeface="Arial"/>
                <a:ea typeface="Arial"/>
                <a:cs typeface="Arial"/>
                <a:sym typeface="Arial"/>
              </a:rPr>
              <a:t>HPは測定後に判断</a:t>
            </a:r>
            <a:endParaRPr sz="1100"/>
          </a:p>
        </p:txBody>
      </p:sp>
      <p:sp>
        <p:nvSpPr>
          <p:cNvPr id="337" name="Google Shape;337;p19"/>
          <p:cNvSpPr/>
          <p:nvPr/>
        </p:nvSpPr>
        <p:spPr>
          <a:xfrm>
            <a:off x="5786438" y="3557588"/>
            <a:ext cx="2043113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00">
                <a:solidFill>
                  <a:srgbClr val="5D6B66"/>
                </a:solidFill>
                <a:latin typeface="Arial"/>
                <a:ea typeface="Arial"/>
                <a:cs typeface="Arial"/>
                <a:sym typeface="Arial"/>
              </a:rPr>
              <a:t>HPをどう作るか、どこまで変えるかは計測結果で変わるため、この段階では範囲を固定しない。</a:t>
            </a:r>
            <a:endParaRPr sz="1100"/>
          </a:p>
        </p:txBody>
      </p:sp>
      <p:sp>
        <p:nvSpPr>
          <p:cNvPr id="338" name="Google Shape;338;p19"/>
          <p:cNvSpPr/>
          <p:nvPr/>
        </p:nvSpPr>
        <p:spPr>
          <a:xfrm>
            <a:off x="514350" y="4171950"/>
            <a:ext cx="7772400" cy="414338"/>
          </a:xfrm>
          <a:prstGeom prst="rect">
            <a:avLst/>
          </a:prstGeom>
          <a:solidFill>
            <a:srgbClr val="E4F3EE"/>
          </a:solidFill>
          <a:ln cap="flat" cmpd="sng" w="10475">
            <a:solidFill>
              <a:srgbClr val="0A8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742950" y="4300538"/>
            <a:ext cx="7072313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00">
                <a:solidFill>
                  <a:srgbClr val="063D34"/>
                </a:solidFill>
                <a:latin typeface="Arial"/>
                <a:ea typeface="Arial"/>
                <a:cs typeface="Arial"/>
                <a:sym typeface="Arial"/>
              </a:rPr>
              <a:t>社内結論：まずPlan Aで計測土台を作る。その後、数字を見てHP導線改善・Instagram強化・地域施策の優先順位を決める。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Tennis Plaza ABC Plus A">
      <a:dk1>
        <a:srgbClr val="000000"/>
      </a:dk1>
      <a:lt1>
        <a:srgbClr val="FFFFFF"/>
      </a:lt1>
      <a:dk2>
        <a:srgbClr val="063D34"/>
      </a:dk2>
      <a:lt2>
        <a:srgbClr val="D7E1DC"/>
      </a:lt2>
      <a:accent1>
        <a:srgbClr val="0A8B72"/>
      </a:accent1>
      <a:accent2>
        <a:srgbClr val="C77A14"/>
      </a:accent2>
      <a:accent3>
        <a:srgbClr val="B64A3D"/>
      </a:accent3>
      <a:accent4>
        <a:srgbClr val="93B5A9"/>
      </a:accent4>
      <a:accent5>
        <a:srgbClr val="F2C94C"/>
      </a:accent5>
      <a:accent6>
        <a:srgbClr val="7A9E9F"/>
      </a:accent6>
      <a:hlink>
        <a:srgbClr val="0A8B72"/>
      </a:hlink>
      <a:folHlink>
        <a:srgbClr val="C77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