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ARIGATOSAN ／ ご提案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3272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テニスプラザ尼崎さま</a:t>
            </a:r>
          </a:p>
          <a:p>
            <a:pPr algn="l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事業成長のご提案</a:t>
            </a:r>
          </a:p>
          <a:p>
            <a:pPr algn="l"/>
            <a:r>
              <a:rPr sz="17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— 採用を起点に、</a:t>
            </a:r>
            <a:r>
              <a:rPr sz="17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採れる→現場が回る→集客→西宮再建</a:t>
            </a:r>
            <a:r>
              <a:rPr sz="17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まで —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029200"/>
            <a:ext cx="10058400" cy="18288"/>
          </a:xfrm>
          <a:prstGeom prst="rect">
            <a:avLst/>
          </a:prstGeom>
          <a:solidFill>
            <a:srgbClr val="3A5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66360"/>
            <a:ext cx="100584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E6EFEA"/>
                </a:solidFill>
                <a:latin typeface="Meiryo"/>
                <a:ea typeface="Meiryo"/>
                <a:cs typeface="Meiryo"/>
              </a:rPr>
              <a:t>ご提案先：テニスプラザ尼崎 山下社長 ／ 近江さま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CFE0D8"/>
                </a:solidFill>
                <a:latin typeface="Meiryo"/>
                <a:ea typeface="Meiryo"/>
                <a:cs typeface="Meiryo"/>
              </a:rPr>
              <a:t>ご提案：アリガトサン（中田・中村） ／ 2026年6月</a:t>
            </a:r>
          </a:p>
          <a:p>
            <a:pPr algn="l"/>
            <a:r>
              <a:rPr sz="1200" b="0">
                <a:solidFill>
                  <a:srgbClr val="E8A100"/>
                </a:solidFill>
                <a:latin typeface="Meiryo"/>
                <a:ea typeface="Meiryo"/>
                <a:cs typeface="Meiryo"/>
              </a:rPr>
              <a:t>デザイン × マーケティング × 営業 × AIエンジニアリング × 経営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7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本日のゴール と 進め方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216152"/>
            <a:ext cx="2011680" cy="45720"/>
          </a:xfrm>
          <a:prstGeom prst="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417320"/>
            <a:ext cx="11064240" cy="1051560"/>
          </a:xfrm>
          <a:prstGeom prst="roundRect">
            <a:avLst/>
          </a:prstGeom>
          <a:solidFill>
            <a:srgbClr val="EDF5F0"/>
          </a:solidFill>
          <a:ln w="19050">
            <a:solidFill>
              <a:srgbClr val="0F3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481328"/>
            <a:ext cx="1051560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本日のゴール：</a:t>
            </a:r>
            <a:r>
              <a:rPr sz="1600" b="1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「まず“穴を塞いで数えられる状態”を作る一歩（プランB）」のご判断をいただくこと。</a:t>
            </a:r>
          </a:p>
          <a:p>
            <a:pPr algn="l"/>
            <a:r>
              <a:rPr sz="12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※その先どこまで伸ばすか（プランC）は、数字が見えてから一緒に決められます。今日すべてを決める必要はありません。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788920"/>
            <a:ext cx="34747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3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1. 現状報告（GA4の事実）</a:t>
            </a:r>
          </a:p>
          <a:p>
            <a:pPr algn="ctr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15分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24528" y="2788920"/>
            <a:ext cx="34747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3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2. 現状維持のコスト</a:t>
            </a:r>
          </a:p>
          <a:p>
            <a:pPr algn="ctr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5分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82127" y="2788920"/>
            <a:ext cx="34747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3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3. これからの方向性</a:t>
            </a:r>
          </a:p>
          <a:p>
            <a:pPr algn="ctr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10分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749039"/>
            <a:ext cx="34747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3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4. 3つのプランご提案</a:t>
            </a:r>
          </a:p>
          <a:p>
            <a:pPr algn="ctr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15分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3749039"/>
            <a:ext cx="34747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3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5. ご懸念への回答</a:t>
            </a:r>
          </a:p>
          <a:p>
            <a:pPr algn="ctr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5分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82127" y="3749039"/>
            <a:ext cx="34747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3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6. 次の一歩</a:t>
            </a:r>
          </a:p>
          <a:p>
            <a:pPr algn="ctr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10分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0292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（想定60分。今日いちばん大事なのは前半の「事実」より後半の「で、どうするか」です）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36576"/>
          </a:xfrm>
          <a:prstGeom prst="rect">
            <a:avLst/>
          </a:prstGeom>
          <a:solidFill>
            <a:srgbClr val="3A5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100584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SECTION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1024128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現状報告 ─ まず、事実から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657600"/>
            <a:ext cx="102412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0">
                <a:solidFill>
                  <a:srgbClr val="CFE0D8"/>
                </a:solidFill>
                <a:latin typeface="Meiryo"/>
                <a:ea typeface="Meiryo"/>
                <a:cs typeface="Meiryo"/>
              </a:rPr>
              <a:t>御社のGoogleアナリティクス（GA4）の実数を分析しました。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現状をひとことで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7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結論：お客さんは来ている。でも「レジ」が無い。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216152"/>
            <a:ext cx="2011680" cy="45720"/>
          </a:xfrm>
          <a:prstGeom prst="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371600"/>
            <a:ext cx="11064240" cy="868680"/>
          </a:xfrm>
          <a:prstGeom prst="round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371600"/>
            <a:ext cx="11064240" cy="868680"/>
          </a:xfrm>
          <a:prstGeom prst="round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「集客が弱い」のではありません。土壌は良い。問題は “数えられていない” ことと “武器が繋がっていない” ことです。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834640"/>
            <a:ext cx="24688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3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蛇口</a:t>
            </a:r>
          </a:p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A26"/>
                </a:solidFill>
                <a:latin typeface="Meiryo"/>
                <a:ea typeface="Meiryo"/>
                <a:cs typeface="Meiryo"/>
              </a:rPr>
              <a:t>SNS・検索　（強い）</a:t>
            </a:r>
          </a:p>
          <a:p>
            <a:pPr algn="ctr"/>
            <a:r>
              <a:rPr sz="11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◎ 月1,650訪問
リール18.5万再生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355848" y="3584447"/>
            <a:ext cx="374904" cy="329184"/>
          </a:xfrm>
          <a:prstGeom prst="rightArrow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9040" y="2834640"/>
            <a:ext cx="24688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C0392B"/>
                </a:solidFill>
                <a:latin typeface="Meiryo"/>
                <a:ea typeface="Meiryo"/>
                <a:cs typeface="Meiryo"/>
              </a:rPr>
              <a:t>バケツ</a:t>
            </a:r>
          </a:p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ホームページ　（穴あき）</a:t>
            </a:r>
          </a:p>
          <a:p>
            <a:pPr algn="ctr"/>
            <a:r>
              <a:rPr sz="11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✕ 来た人を
取りこぼし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236208" y="3584447"/>
            <a:ext cx="374904" cy="329184"/>
          </a:xfrm>
          <a:prstGeom prst="rightArrow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629400" y="2834640"/>
            <a:ext cx="24688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BFBFBF"/>
                </a:solidFill>
                <a:latin typeface="Meiryo"/>
                <a:ea typeface="Meiryo"/>
                <a:cs typeface="Meiryo"/>
              </a:rPr>
              <a:t>レジ</a:t>
            </a:r>
          </a:p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A26"/>
                </a:solidFill>
                <a:latin typeface="Meiryo"/>
                <a:ea typeface="Meiryo"/>
                <a:cs typeface="Meiryo"/>
              </a:rPr>
              <a:t>計測　（無い）</a:t>
            </a:r>
          </a:p>
          <a:p>
            <a:pPr algn="ctr"/>
            <a:r>
              <a:rPr sz="11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✕ 何件取れたか
不明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16568" y="3584447"/>
            <a:ext cx="374904" cy="329184"/>
          </a:xfrm>
          <a:prstGeom prst="rightArrow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509760" y="2834640"/>
            <a:ext cx="24688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77C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C77C18"/>
                </a:solidFill>
                <a:latin typeface="Meiryo"/>
                <a:ea typeface="Meiryo"/>
                <a:cs typeface="Meiryo"/>
              </a:rPr>
              <a:t>店員</a:t>
            </a:r>
          </a:p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スタッフ　（不足）</a:t>
            </a:r>
          </a:p>
          <a:p>
            <a:pPr algn="ctr"/>
            <a:r>
              <a:rPr sz="11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△ 近江さんが
現場に張り付き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983480"/>
            <a:ext cx="110642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まず </a:t>
            </a:r>
            <a:r>
              <a:rPr sz="1400" b="1">
                <a:solidFill>
                  <a:srgbClr val="C0392B"/>
                </a:solidFill>
                <a:latin typeface="Meiryo"/>
                <a:ea typeface="Meiryo"/>
                <a:cs typeface="Meiryo"/>
              </a:rPr>
              <a:t>バケツの穴を塞ぎ（HP改善）</a:t>
            </a:r>
            <a:r>
              <a:rPr sz="14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、</a:t>
            </a:r>
            <a:r>
              <a:rPr sz="14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レジを置き（計測）</a:t>
            </a:r>
            <a:r>
              <a:rPr sz="14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、</a:t>
            </a:r>
            <a:r>
              <a:rPr sz="1400" b="1">
                <a:solidFill>
                  <a:srgbClr val="C77C18"/>
                </a:solidFill>
                <a:latin typeface="Meiryo"/>
                <a:ea typeface="Meiryo"/>
                <a:cs typeface="Meiryo"/>
              </a:rPr>
              <a:t>店員を増やす（採用）</a:t>
            </a:r>
            <a:r>
              <a:rPr sz="14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。これが今日のご提案の全体像です。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現状報告｜すべて実データ＋スクショ証跡あり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7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GA4で見つけた、6つの事実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216152"/>
            <a:ext cx="2011680" cy="45720"/>
          </a:xfrm>
          <a:prstGeom prst="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417320"/>
            <a:ext cx="5440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801368"/>
            <a:ext cx="566928" cy="56692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581912"/>
            <a:ext cx="438912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F2A26"/>
                </a:solidFill>
                <a:latin typeface="Meiryo"/>
                <a:ea typeface="Meiryo"/>
                <a:cs typeface="Meiryo"/>
              </a:rPr>
              <a:t>成果(予約/問合せ/電話/入会)の計測がゼロ</a:t>
            </a:r>
          </a:p>
          <a:p>
            <a:pPr algn="l"/>
            <a:r>
              <a:rPr sz="1150" b="1">
                <a:solidFill>
                  <a:srgbClr val="C0392B"/>
                </a:solidFill>
                <a:latin typeface="Meiryo"/>
                <a:ea typeface="Meiryo"/>
                <a:cs typeface="Meiryo"/>
              </a:rPr>
              <a:t>レジが無い。何件取れているか不明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0488" y="1417320"/>
            <a:ext cx="5440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801368"/>
            <a:ext cx="566928" cy="56692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04888" y="1581912"/>
            <a:ext cx="438912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F2A26"/>
                </a:solidFill>
                <a:latin typeface="Meiryo"/>
                <a:ea typeface="Meiryo"/>
                <a:cs typeface="Meiryo"/>
              </a:rPr>
              <a:t>Instagram→HPが月25訪問（全体の1.5%）</a:t>
            </a:r>
          </a:p>
          <a:p>
            <a:pPr algn="l"/>
            <a:r>
              <a:rPr sz="1150" b="1">
                <a:solidFill>
                  <a:srgbClr val="C0392B"/>
                </a:solidFill>
                <a:latin typeface="Meiryo"/>
                <a:ea typeface="Meiryo"/>
                <a:cs typeface="Meiryo"/>
              </a:rPr>
              <a:t>最強の武器がHPに繋がっていない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880360"/>
            <a:ext cx="5440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3264408"/>
            <a:ext cx="566928" cy="56692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3044952"/>
            <a:ext cx="438912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F2A26"/>
                </a:solidFill>
                <a:latin typeface="Meiryo"/>
                <a:ea typeface="Meiryo"/>
                <a:cs typeface="Meiryo"/>
              </a:rPr>
              <a:t>有料SNS広告が滞在22秒で離脱</a:t>
            </a:r>
          </a:p>
          <a:p>
            <a:pPr algn="l"/>
            <a:r>
              <a:rPr sz="1150" b="1">
                <a:solidFill>
                  <a:srgbClr val="C0392B"/>
                </a:solidFill>
                <a:latin typeface="Meiryo"/>
                <a:ea typeface="Meiryo"/>
                <a:cs typeface="Meiryo"/>
              </a:rPr>
              <a:t>広告費の無駄打ち（出稿元も不明）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0488" y="2880360"/>
            <a:ext cx="5440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55080" y="3264408"/>
            <a:ext cx="566928" cy="566928"/>
          </a:xfrm>
          <a:prstGeom prst="roundRect">
            <a:avLst/>
          </a:prstGeom>
          <a:solidFill>
            <a:srgbClr val="C77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4888" y="3044952"/>
            <a:ext cx="438912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F2A26"/>
                </a:solidFill>
                <a:latin typeface="Meiryo"/>
                <a:ea typeface="Meiryo"/>
                <a:cs typeface="Meiryo"/>
              </a:rPr>
              <a:t>Search Console未連携</a:t>
            </a:r>
          </a:p>
          <a:p>
            <a:pPr algn="l"/>
            <a:r>
              <a:rPr sz="1150" b="1">
                <a:solidFill>
                  <a:srgbClr val="C77C18"/>
                </a:solidFill>
                <a:latin typeface="Meiryo"/>
                <a:ea typeface="Meiryo"/>
                <a:cs typeface="Meiryo"/>
              </a:rPr>
              <a:t>どんな検索語で来ているか見えない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43400"/>
            <a:ext cx="5440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20" y="4727448"/>
            <a:ext cx="566928" cy="566928"/>
          </a:xfrm>
          <a:prstGeom prst="roundRect">
            <a:avLst/>
          </a:prstGeom>
          <a:solidFill>
            <a:srgbClr val="C77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507992"/>
            <a:ext cx="438912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リンク切れ(404)が月275回</a:t>
            </a:r>
          </a:p>
          <a:p>
            <a:pPr algn="l"/>
            <a:r>
              <a:rPr sz="1150" b="1">
                <a:solidFill>
                  <a:srgbClr val="C77C18"/>
                </a:solidFill>
                <a:latin typeface="Meiryo"/>
                <a:ea typeface="Meiryo"/>
                <a:cs typeface="Meiryo"/>
              </a:rPr>
              <a:t>来た人を取りこぼしている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4343400"/>
            <a:ext cx="5440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55080" y="4727448"/>
            <a:ext cx="566928" cy="566928"/>
          </a:xfrm>
          <a:prstGeom prst="round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4507992"/>
            <a:ext cx="438912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モバイル68%・月1,650訪問・検索の質76%</a:t>
            </a:r>
          </a:p>
          <a:p>
            <a:pPr algn="l"/>
            <a:r>
              <a:rPr sz="1150" b="1">
                <a:solidFill>
                  <a:srgbClr val="1E8449"/>
                </a:solidFill>
                <a:latin typeface="Meiryo"/>
                <a:ea typeface="Meiryo"/>
                <a:cs typeface="Meiryo"/>
              </a:rPr>
              <a:t>スマホ中心。土壌そのものは良い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現状報告｜②の深掘り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7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いちばんの“もったいない”：強い武器が繋がっていない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216152"/>
            <a:ext cx="2011680" cy="45720"/>
          </a:xfrm>
          <a:prstGeom prst="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4937760" cy="2926080"/>
          </a:xfrm>
          <a:prstGeom prst="roundRect">
            <a:avLst/>
          </a:prstGeom>
          <a:solidFill>
            <a:srgbClr val="EDF5F0"/>
          </a:solidFill>
          <a:ln w="19050">
            <a:solidFill>
              <a:srgbClr val="0F3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Instagram</a:t>
            </a:r>
          </a:p>
          <a:p>
            <a:pPr algn="ctr">
              <a:spcAft>
                <a:spcPts val="0"/>
              </a:spcAft>
            </a:pPr>
            <a:r>
              <a:rPr sz="54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18.5万</a:t>
            </a:r>
          </a:p>
          <a:p>
            <a:pPr algn="ctr"/>
            <a:r>
              <a:rPr sz="12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リール最大再生 ／ フォロワー893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06440" y="3063240"/>
            <a:ext cx="640080" cy="457200"/>
          </a:xfrm>
          <a:prstGeom prst="rightArrow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37960" y="1828800"/>
            <a:ext cx="4937760" cy="2926080"/>
          </a:xfrm>
          <a:prstGeom prst="roundRect">
            <a:avLst/>
          </a:prstGeom>
          <a:solidFill>
            <a:srgbClr val="FBEEEC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Meiryo"/>
                <a:ea typeface="Meiryo"/>
                <a:cs typeface="Meiryo"/>
              </a:rPr>
              <a:t>ホームページ到達</a:t>
            </a:r>
          </a:p>
          <a:p>
            <a:pPr algn="ctr">
              <a:spcAft>
                <a:spcPts val="0"/>
              </a:spcAft>
            </a:pPr>
            <a:r>
              <a:rPr sz="5400" b="1">
                <a:solidFill>
                  <a:srgbClr val="C0392B"/>
                </a:solidFill>
                <a:latin typeface="Meiryo"/>
                <a:ea typeface="Meiryo"/>
                <a:cs typeface="Meiryo"/>
              </a:rPr>
              <a:t>月25</a:t>
            </a:r>
          </a:p>
          <a:p>
            <a:pPr algn="ctr"/>
            <a:r>
              <a:rPr sz="12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訪問（全体のわずか1.5%）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937760"/>
            <a:ext cx="107899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C0392B"/>
                </a:solidFill>
                <a:latin typeface="Meiryo"/>
                <a:ea typeface="Meiryo"/>
                <a:cs typeface="Meiryo"/>
              </a:rPr>
              <a:t>これだけ見られているのに、HPにも予約にも繋がっていない。</a:t>
            </a:r>
            <a:r>
              <a:rPr sz="14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　プロフィールの行き先を整えるだけで、ここは大きく伸びます。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現状報告｜①の深掘り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7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いま、成果を「数えていない」＝経営判断ができない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216152"/>
            <a:ext cx="2011680" cy="45720"/>
          </a:xfrm>
          <a:prstGeom prst="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09728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GA4に記録されているのは自動の7項目だけ。予約・問い合わせ・電話・入会の「成果」が一つも設定されていません。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194560"/>
            <a:ext cx="50292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記録されている</a:t>
            </a:r>
          </a:p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ページ閲覧・スクロール 等</a:t>
            </a:r>
          </a:p>
          <a:p>
            <a:pPr algn="ctr"/>
            <a:r>
              <a:rPr sz="12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＝「人が来た」までは分かる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194560"/>
            <a:ext cx="5394960" cy="2468880"/>
          </a:xfrm>
          <a:prstGeom prst="roundRect">
            <a:avLst/>
          </a:prstGeom>
          <a:solidFill>
            <a:srgbClr val="FBEEEC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C0392B"/>
                </a:solidFill>
                <a:latin typeface="Meiryo"/>
                <a:ea typeface="Meiryo"/>
                <a:cs typeface="Meiryo"/>
              </a:rPr>
              <a:t>記録されていない</a:t>
            </a:r>
          </a:p>
          <a:p>
            <a:pPr algn="ctr">
              <a:spcAft>
                <a:spcPts val="600"/>
              </a:spcAft>
            </a:pPr>
            <a:r>
              <a:rPr sz="1500" b="1">
                <a:solidFill>
                  <a:srgbClr val="C0392B"/>
                </a:solidFill>
                <a:latin typeface="Meiryo"/>
                <a:ea typeface="Meiryo"/>
                <a:cs typeface="Meiryo"/>
              </a:rPr>
              <a:t>予約・問い合わせ・電話・入会</a:t>
            </a:r>
          </a:p>
          <a:p>
            <a:pPr algn="ctr"/>
            <a:r>
              <a:rPr sz="1200" b="1">
                <a:solidFill>
                  <a:srgbClr val="1F2A26"/>
                </a:solidFill>
                <a:latin typeface="Meiryo"/>
                <a:ea typeface="Meiryo"/>
                <a:cs typeface="Meiryo"/>
              </a:rPr>
              <a:t>＝「何件 成果が出たか」が0件のまま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892040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C0392B"/>
                </a:solidFill>
                <a:latin typeface="Meiryo"/>
                <a:ea typeface="Meiryo"/>
                <a:cs typeface="Meiryo"/>
              </a:rPr>
              <a:t>例えるなら「レジの無いお店」。</a:t>
            </a:r>
            <a:r>
              <a:rPr sz="14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どの施策が効いたか分からず、広告も改善も“勘”になります。まずここを直します。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現状報告｜⑥のポジティブ面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7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でも、土壌は良い。だから“伸びしろ”です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216152"/>
            <a:ext cx="2011680" cy="45720"/>
          </a:xfrm>
          <a:prstGeom prst="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3383280" cy="2377440"/>
          </a:xfrm>
          <a:prstGeom prst="roundRect">
            <a:avLst/>
          </a:prstGeom>
          <a:solidFill>
            <a:srgbClr val="EDF5F0"/>
          </a:solidFill>
          <a:ln w="15240">
            <a:solidFill>
              <a:srgbClr val="0F3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>
              <a:spcAft>
                <a:spcPts val="200"/>
              </a:spcAft>
            </a:pPr>
            <a:r>
              <a:rPr sz="44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月1,650</a:t>
            </a:r>
          </a:p>
          <a:p>
            <a:pPr algn="ctr"/>
            <a:r>
              <a:rPr sz="12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訪問／月（決して少なくない）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011680"/>
            <a:ext cx="3383280" cy="2377440"/>
          </a:xfrm>
          <a:prstGeom prst="roundRect">
            <a:avLst/>
          </a:prstGeom>
          <a:solidFill>
            <a:srgbClr val="EDF5F0"/>
          </a:solidFill>
          <a:ln w="15240">
            <a:solidFill>
              <a:srgbClr val="0F3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>
              <a:spcAft>
                <a:spcPts val="200"/>
              </a:spcAft>
            </a:pPr>
            <a:r>
              <a:rPr sz="44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76%</a:t>
            </a:r>
          </a:p>
          <a:p>
            <a:pPr algn="ctr"/>
            <a:r>
              <a:rPr sz="12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検索で来た人の“しっかり見た”率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2377440"/>
          </a:xfrm>
          <a:prstGeom prst="roundRect">
            <a:avLst/>
          </a:prstGeom>
          <a:solidFill>
            <a:srgbClr val="EDF5F0"/>
          </a:solidFill>
          <a:ln w="15240">
            <a:solidFill>
              <a:srgbClr val="0F3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>
              <a:spcAft>
                <a:spcPts val="200"/>
              </a:spcAft>
            </a:pPr>
            <a:r>
              <a:rPr sz="44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68%</a:t>
            </a:r>
          </a:p>
          <a:p>
            <a:pPr algn="ctr"/>
            <a:r>
              <a:rPr sz="12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スマホからのアクセス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107899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集客力が無いのではありません。</a:t>
            </a:r>
            <a:r>
              <a:rPr sz="14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来てくれた人を取りこぼさず、数える仕組みを作るだけ</a:t>
            </a:r>
            <a:r>
              <a:rPr sz="14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で成果は変わります。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現状報告｜現状維持のコスト試算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7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「今のままでいい」の、見えていない値段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216152"/>
            <a:ext cx="2011680" cy="45720"/>
          </a:xfrm>
          <a:prstGeom prst="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371600"/>
            <a:ext cx="11064240" cy="777240"/>
          </a:xfrm>
          <a:prstGeom prst="roundRect">
            <a:avLst/>
          </a:prstGeom>
          <a:solidFill>
            <a:srgbClr val="FBEEEC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371600"/>
            <a:ext cx="11064240" cy="777240"/>
          </a:xfrm>
          <a:prstGeom prst="roundRect">
            <a:avLst/>
          </a:prstGeom>
          <a:solidFill>
            <a:srgbClr val="FBEEEC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500" b="1">
                <a:solidFill>
                  <a:srgbClr val="C0392B"/>
                </a:solidFill>
                <a:latin typeface="Meiryo"/>
                <a:ea typeface="Meiryo"/>
                <a:cs typeface="Meiryo"/>
              </a:rPr>
              <a:t>計測ゼロ・導線の穴のままだと、「取れていたはずの成果」が毎月見えないまま消えています。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377440"/>
            <a:ext cx="10698480" cy="713232"/>
          </a:xfrm>
          <a:prstGeom prst="roundRect">
            <a:avLst/>
          </a:prstGeom>
          <a:solidFill>
            <a:srgbClr val="FBF3E6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4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入会1件の価値（月謝1万円×平均在籍2年）　→　</a:t>
            </a:r>
            <a:r>
              <a:rPr sz="1400" b="1">
                <a:solidFill>
                  <a:srgbClr val="C0392B"/>
                </a:solidFill>
                <a:latin typeface="Meiryo"/>
                <a:ea typeface="Meiryo"/>
                <a:cs typeface="Meiryo"/>
              </a:rPr>
              <a:t>約24万円【仮置き】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18688"/>
            <a:ext cx="10698480" cy="713232"/>
          </a:xfrm>
          <a:prstGeom prst="roundRect">
            <a:avLst/>
          </a:prstGeom>
          <a:solidFill>
            <a:srgbClr val="FBF3E6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4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導線改善で体験申込が月+3件 → 入会 月+1.2件（入会率40%・仮）　→　</a:t>
            </a:r>
            <a:r>
              <a:rPr sz="1400" b="1">
                <a:solidFill>
                  <a:srgbClr val="C0392B"/>
                </a:solidFill>
                <a:latin typeface="Meiryo"/>
                <a:ea typeface="Meiryo"/>
                <a:cs typeface="Meiryo"/>
              </a:rPr>
              <a:t>月+1.2件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59936"/>
            <a:ext cx="10698480" cy="713232"/>
          </a:xfrm>
          <a:prstGeom prst="round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年間の機会損失（24万円 × 1.2件 × 12ヶ月）　→　</a:t>
            </a:r>
            <a:r>
              <a:rPr sz="1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約345万円／年【仮置き】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1078992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※数字はすべて仮置きの試算です。実際の会員数・月謝・体験→入会率はMTGで伺い、その場で「逆算シート」に入れて確定値を出します。</a:t>
            </a:r>
          </a:p>
          <a:p>
            <a:pPr algn="l"/>
            <a:r>
              <a:rPr sz="13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要点：直すコストより、</a:t>
            </a:r>
            <a:r>
              <a:rPr sz="1300" b="1">
                <a:solidFill>
                  <a:srgbClr val="C0392B"/>
                </a:solidFill>
                <a:latin typeface="Meiryo"/>
                <a:ea typeface="Meiryo"/>
                <a:cs typeface="Meiryo"/>
              </a:rPr>
              <a:t>放置するコストの方が大きい</a:t>
            </a:r>
            <a:r>
              <a:rPr sz="13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可能性が高い、ということです。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36576"/>
          </a:xfrm>
          <a:prstGeom prst="rect">
            <a:avLst/>
          </a:prstGeom>
          <a:solidFill>
            <a:srgbClr val="3A5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100584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SECTION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1024128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これからの方向性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657600"/>
            <a:ext cx="102412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0">
                <a:solidFill>
                  <a:srgbClr val="CFE0D8"/>
                </a:solidFill>
                <a:latin typeface="Meiryo"/>
                <a:ea typeface="Meiryo"/>
                <a:cs typeface="Meiryo"/>
              </a:rPr>
              <a:t>穴を塞ぎ、数え、人を増やす。その正しい順番。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方向性｜計測 と 採用 をつなぐ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7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なぜ、最初の一歩が「採用」なのか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216152"/>
            <a:ext cx="2011680" cy="45720"/>
          </a:xfrm>
          <a:prstGeom prst="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109728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「HPの穴を塞ぐ（計測）」と並んで、もう一つ最初に効くドミノが「採用」です。理由はシンプルです。</a:t>
            </a:r>
          </a:p>
        </p:txBody>
      </p:sp>
      <p:sp>
        <p:nvSpPr>
          <p:cNvPr id="9" name="Chevron 8"/>
          <p:cNvSpPr/>
          <p:nvPr/>
        </p:nvSpPr>
        <p:spPr>
          <a:xfrm>
            <a:off x="640080" y="2377440"/>
            <a:ext cx="2788920" cy="914400"/>
          </a:xfrm>
          <a:prstGeom prst="chevron">
            <a:avLst/>
          </a:prstGeom>
          <a:solidFill>
            <a:srgbClr val="264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①近江さんが現場に張り付き</a:t>
            </a:r>
          </a:p>
          <a:p>
            <a:pPr algn="ctr"/>
            <a:r>
              <a:rPr sz="900" b="0">
                <a:solidFill>
                  <a:srgbClr val="CFE0D8"/>
                </a:solidFill>
                <a:latin typeface="Meiryo"/>
                <a:ea typeface="Meiryo"/>
                <a:cs typeface="Meiryo"/>
              </a:rPr>
              <a:t>今は近江さん依存</a:t>
            </a:r>
          </a:p>
        </p:txBody>
      </p:sp>
      <p:sp>
        <p:nvSpPr>
          <p:cNvPr id="10" name="Chevron 9"/>
          <p:cNvSpPr/>
          <p:nvPr/>
        </p:nvSpPr>
        <p:spPr>
          <a:xfrm>
            <a:off x="3273552" y="2377440"/>
            <a:ext cx="2788920" cy="914400"/>
          </a:xfrm>
          <a:prstGeom prst="chevron">
            <a:avLst/>
          </a:prstGeom>
          <a:solidFill>
            <a:srgbClr val="264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②集客・改善を回す人がいない</a:t>
            </a:r>
          </a:p>
          <a:p>
            <a:pPr algn="ctr"/>
            <a:r>
              <a:rPr sz="900" b="0">
                <a:solidFill>
                  <a:srgbClr val="CFE0D8"/>
                </a:solidFill>
                <a:latin typeface="Meiryo"/>
                <a:ea typeface="Meiryo"/>
                <a:cs typeface="Meiryo"/>
              </a:rPr>
              <a:t>施策が回らない</a:t>
            </a:r>
          </a:p>
        </p:txBody>
      </p:sp>
      <p:sp>
        <p:nvSpPr>
          <p:cNvPr id="11" name="Chevron 10"/>
          <p:cNvSpPr/>
          <p:nvPr/>
        </p:nvSpPr>
        <p:spPr>
          <a:xfrm>
            <a:off x="5907024" y="2377440"/>
            <a:ext cx="2788920" cy="914400"/>
          </a:xfrm>
          <a:prstGeom prst="chevron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③だから まず採用</a:t>
            </a:r>
          </a:p>
          <a:p>
            <a:pPr algn="ctr"/>
            <a:r>
              <a:rPr sz="900" b="0">
                <a:solidFill>
                  <a:srgbClr val="CFE0D8"/>
                </a:solidFill>
                <a:latin typeface="Meiryo"/>
                <a:ea typeface="Meiryo"/>
                <a:cs typeface="Meiryo"/>
              </a:rPr>
              <a:t>最初のドミノ</a:t>
            </a:r>
          </a:p>
        </p:txBody>
      </p:sp>
      <p:sp>
        <p:nvSpPr>
          <p:cNvPr id="12" name="Chevron 11"/>
          <p:cNvSpPr/>
          <p:nvPr/>
        </p:nvSpPr>
        <p:spPr>
          <a:xfrm>
            <a:off x="8540496" y="2377440"/>
            <a:ext cx="2788920" cy="914400"/>
          </a:xfrm>
          <a:prstGeom prst="chevron">
            <a:avLst/>
          </a:prstGeom>
          <a:solidFill>
            <a:srgbClr val="D6D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300" b="1">
                <a:solidFill>
                  <a:srgbClr val="5D6B64"/>
                </a:solidFill>
                <a:latin typeface="Meiryo"/>
                <a:ea typeface="Meiryo"/>
                <a:cs typeface="Meiryo"/>
              </a:rPr>
              <a:t>④現場が回る→手離れ→集客→西宮</a:t>
            </a:r>
          </a:p>
          <a:p>
            <a:pPr algn="ctr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好循環へ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10698480" cy="914400"/>
          </a:xfrm>
          <a:prstGeom prst="roundRect">
            <a:avLst/>
          </a:prstGeom>
          <a:solidFill>
            <a:srgbClr val="EDF5F0"/>
          </a:solidFill>
          <a:ln w="15240">
            <a:solidFill>
              <a:srgbClr val="0F3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3931920"/>
            <a:ext cx="10698480" cy="914400"/>
          </a:xfrm>
          <a:prstGeom prst="roundRect">
            <a:avLst/>
          </a:prstGeom>
          <a:solidFill>
            <a:srgbClr val="EDF5F0"/>
          </a:solidFill>
          <a:ln w="12700">
            <a:solidFill>
              <a:srgbClr val="0F3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5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レジを直しても、店員がいなければ店は回らない。</a:t>
            </a:r>
            <a:r>
              <a:rPr sz="15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だから「計測」と「採用」を同時に、が正解です。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029200"/>
            <a:ext cx="107899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※これは私たちの分析からのご提言です。御社のご事情に合わせて一緒に調整できます。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方向性｜本日のスコープと将来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7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尼崎で型を作り、西宮へ。全体ロードマップ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216152"/>
            <a:ext cx="2011680" cy="45720"/>
          </a:xfrm>
          <a:prstGeom prst="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11</a:t>
            </a:r>
          </a:p>
        </p:txBody>
      </p:sp>
      <p:sp>
        <p:nvSpPr>
          <p:cNvPr id="8" name="Pentagon 7"/>
          <p:cNvSpPr/>
          <p:nvPr/>
        </p:nvSpPr>
        <p:spPr>
          <a:xfrm>
            <a:off x="640080" y="2286000"/>
            <a:ext cx="2743200" cy="1371600"/>
          </a:xfrm>
          <a:prstGeom prst="homePlate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0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PHASE 1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採用</a:t>
            </a:r>
          </a:p>
          <a:p>
            <a:pPr algn="ctr"/>
            <a:r>
              <a:rPr sz="950" b="0">
                <a:solidFill>
                  <a:srgbClr val="CFE0D8"/>
                </a:solidFill>
                <a:latin typeface="Meiryo"/>
                <a:ea typeface="Meiryo"/>
                <a:cs typeface="Meiryo"/>
              </a:rPr>
              <a:t>社員1+バイト2を採用</a:t>
            </a:r>
          </a:p>
        </p:txBody>
      </p:sp>
      <p:sp>
        <p:nvSpPr>
          <p:cNvPr id="9" name="Pentagon 8"/>
          <p:cNvSpPr/>
          <p:nvPr/>
        </p:nvSpPr>
        <p:spPr>
          <a:xfrm>
            <a:off x="3429000" y="2286000"/>
            <a:ext cx="2743200" cy="1371600"/>
          </a:xfrm>
          <a:prstGeom prst="homePlate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0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PHASE 1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近江 手離れ</a:t>
            </a:r>
          </a:p>
          <a:p>
            <a:pPr algn="ctr"/>
            <a:r>
              <a:rPr sz="950" b="0">
                <a:solidFill>
                  <a:srgbClr val="CFE0D8"/>
                </a:solidFill>
                <a:latin typeface="Meiryo"/>
                <a:ea typeface="Meiryo"/>
                <a:cs typeface="Meiryo"/>
              </a:rPr>
              <a:t>現場の比重を下げる</a:t>
            </a:r>
          </a:p>
        </p:txBody>
      </p:sp>
      <p:sp>
        <p:nvSpPr>
          <p:cNvPr id="10" name="Pentagon 9"/>
          <p:cNvSpPr/>
          <p:nvPr/>
        </p:nvSpPr>
        <p:spPr>
          <a:xfrm>
            <a:off x="6217920" y="2286000"/>
            <a:ext cx="2743200" cy="1371600"/>
          </a:xfrm>
          <a:prstGeom prst="homePlate">
            <a:avLst/>
          </a:prstGeom>
          <a:solidFill>
            <a:srgbClr val="D6D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000" b="1">
                <a:solidFill>
                  <a:srgbClr val="5D6B64"/>
                </a:solidFill>
                <a:latin typeface="Meiryo"/>
                <a:ea typeface="Meiryo"/>
                <a:cs typeface="Meiryo"/>
              </a:rPr>
              <a:t>PHASE 2</a:t>
            </a:r>
          </a:p>
          <a:p>
            <a:pPr algn="ctr"/>
            <a:r>
              <a:rPr sz="1700" b="1">
                <a:solidFill>
                  <a:srgbClr val="5D6B64"/>
                </a:solidFill>
                <a:latin typeface="Meiryo"/>
                <a:ea typeface="Meiryo"/>
                <a:cs typeface="Meiryo"/>
              </a:rPr>
              <a:t>集客強化</a:t>
            </a:r>
          </a:p>
          <a:p>
            <a:pPr algn="ctr"/>
            <a:r>
              <a:rPr sz="95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取りこぼしを止め伸ばす</a:t>
            </a:r>
          </a:p>
        </p:txBody>
      </p:sp>
      <p:sp>
        <p:nvSpPr>
          <p:cNvPr id="11" name="Pentagon 10"/>
          <p:cNvSpPr/>
          <p:nvPr/>
        </p:nvSpPr>
        <p:spPr>
          <a:xfrm>
            <a:off x="9006839" y="2286000"/>
            <a:ext cx="2743200" cy="1371600"/>
          </a:xfrm>
          <a:prstGeom prst="homePlate">
            <a:avLst/>
          </a:prstGeom>
          <a:solidFill>
            <a:srgbClr val="D6D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000" b="1">
                <a:solidFill>
                  <a:srgbClr val="5D6B64"/>
                </a:solidFill>
                <a:latin typeface="Meiryo"/>
                <a:ea typeface="Meiryo"/>
                <a:cs typeface="Meiryo"/>
              </a:rPr>
              <a:t>PHASE 3</a:t>
            </a:r>
          </a:p>
          <a:p>
            <a:pPr algn="ctr"/>
            <a:r>
              <a:rPr sz="1700" b="1">
                <a:solidFill>
                  <a:srgbClr val="5D6B64"/>
                </a:solidFill>
                <a:latin typeface="Meiryo"/>
                <a:ea typeface="Meiryo"/>
                <a:cs typeface="Meiryo"/>
              </a:rPr>
              <a:t>西宮 再建</a:t>
            </a:r>
          </a:p>
          <a:p>
            <a:pPr algn="ctr"/>
            <a:r>
              <a:rPr sz="95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尼崎の型を横展開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77639"/>
            <a:ext cx="5440680" cy="548640"/>
          </a:xfrm>
          <a:prstGeom prst="round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977639"/>
            <a:ext cx="5440680" cy="548640"/>
          </a:xfrm>
          <a:prstGeom prst="round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2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◀ 本日ご提案するスコープ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937760"/>
            <a:ext cx="107899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西宮再建は“3年後のゴール”として見据えますが、</a:t>
            </a:r>
            <a:r>
              <a:rPr sz="14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本日決めるのは尼崎の第一歩（採用＋計測）だけ</a:t>
            </a:r>
            <a:r>
              <a:rPr sz="14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です。まずここから。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方向性｜誰を採るか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7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採りたいのは、こんなコーチ（近江さん定義）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216152"/>
            <a:ext cx="2011680" cy="45720"/>
          </a:xfrm>
          <a:prstGeom prst="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325880"/>
            <a:ext cx="11064240" cy="731520"/>
          </a:xfrm>
          <a:prstGeom prst="roundRect">
            <a:avLst/>
          </a:prstGeom>
          <a:solidFill>
            <a:srgbClr val="FBF3E6"/>
          </a:solidFill>
          <a:ln w="15240">
            <a:solidFill>
              <a:srgbClr val="E8A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6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「レッスンのコマをたくさん持って、長く現場に立ち続けてくれるコーチ」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240280"/>
            <a:ext cx="5394960" cy="1828800"/>
          </a:xfrm>
          <a:prstGeom prst="roundRect">
            <a:avLst/>
          </a:prstGeom>
          <a:solidFill>
            <a:srgbClr val="EDF5F0"/>
          </a:solidFill>
          <a:ln w="16510">
            <a:solidFill>
              <a:srgbClr val="0F3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◎ 採りたい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・コマを安定して回す現場コーチ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・同じことを長く続けられる</a:t>
            </a:r>
          </a:p>
          <a:p>
            <a:pPr algn="l"/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・若くて元気・一定の給料と休みで満足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2240280"/>
            <a:ext cx="5394960" cy="1828800"/>
          </a:xfrm>
          <a:prstGeom prst="roundRect">
            <a:avLst/>
          </a:prstGeom>
          <a:solidFill>
            <a:srgbClr val="FBEEEC"/>
          </a:solidFill>
          <a:ln w="1651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C0392B"/>
                </a:solidFill>
                <a:latin typeface="Meiryo"/>
                <a:ea typeface="Meiryo"/>
                <a:cs typeface="Meiryo"/>
              </a:rPr>
              <a:t>✕ あえて求めない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・「営業もできます」系の器用貧乏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・向上心が強すぎ、すぐ次を求める人</a:t>
            </a:r>
          </a:p>
          <a:p>
            <a:pPr algn="l"/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・ベテラン／昭和世代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251960"/>
            <a:ext cx="35204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250" b="1">
                <a:solidFill>
                  <a:srgbClr val="1F2A26"/>
                </a:solidFill>
                <a:latin typeface="Meiryo"/>
                <a:ea typeface="Meiryo"/>
                <a:cs typeface="Meiryo"/>
              </a:rPr>
              <a:t>① テニス一筋の若手　</a:t>
            </a:r>
            <a:r>
              <a:rPr sz="125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社員候補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0248" y="4251960"/>
            <a:ext cx="35204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250" b="1">
                <a:solidFill>
                  <a:srgbClr val="1F2A26"/>
                </a:solidFill>
                <a:latin typeface="Meiryo"/>
                <a:ea typeface="Meiryo"/>
                <a:cs typeface="Meiryo"/>
              </a:rPr>
              <a:t>② 社会人から戻った若手　</a:t>
            </a:r>
            <a:r>
              <a:rPr sz="125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社員候補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7" y="4251960"/>
            <a:ext cx="35204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250" b="1">
                <a:solidFill>
                  <a:srgbClr val="1F2A26"/>
                </a:solidFill>
                <a:latin typeface="Meiryo"/>
                <a:ea typeface="Meiryo"/>
                <a:cs typeface="Meiryo"/>
              </a:rPr>
              <a:t>③ 副業・かけもち　</a:t>
            </a:r>
            <a:r>
              <a:rPr sz="125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バイト/委託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120640"/>
            <a:ext cx="110642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条件：</a:t>
            </a:r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社員1人＝年収280〜300万・週2.5コマ〜 ／ バイト2人＝月4.5万(交通費込)・各4コマ ／ 平成生まれ・元気重視。</a:t>
            </a:r>
          </a:p>
          <a:p>
            <a:pPr algn="l"/>
            <a:r>
              <a:rPr sz="11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※近江さんの手書きメモ(2026-06-03)を整理。＝「私たちはちゃんと聞きました」を示す1枚。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方向性｜中村方式：何人集めれば何人採れるか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7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KPI設計：採用3名までを“数字”で逆算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216152"/>
            <a:ext cx="2011680" cy="45720"/>
          </a:xfrm>
          <a:prstGeom prst="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110642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採用 </a:t>
            </a:r>
            <a:r>
              <a:rPr sz="13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←</a:t>
            </a:r>
            <a:r>
              <a:rPr sz="13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 面接通過率 </a:t>
            </a:r>
            <a:r>
              <a:rPr sz="13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←</a:t>
            </a:r>
            <a:r>
              <a:rPr sz="13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 応募(LP閲覧×CVR) </a:t>
            </a:r>
            <a:r>
              <a:rPr sz="13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←</a:t>
            </a:r>
            <a:r>
              <a:rPr sz="13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 各チャネル流入。</a:t>
            </a:r>
            <a:r>
              <a:rPr sz="13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この逆算で「どこから何人」まで落とします。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057400"/>
            <a:ext cx="7863840" cy="603504"/>
          </a:xfrm>
          <a:prstGeom prst="roundRect">
            <a:avLst/>
          </a:prstGeom>
          <a:solidFill>
            <a:srgbClr val="264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各チャネル流入 → LP閲覧　</a:t>
            </a:r>
            <a:r>
              <a:rPr sz="1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2130552"/>
            <a:ext cx="31089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5D6B64"/>
                </a:solidFill>
                <a:latin typeface="Meiryo"/>
                <a:ea typeface="Meiryo"/>
                <a:cs typeface="Meiryo"/>
              </a:rPr>
              <a:t>▼ CVR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07208"/>
            <a:ext cx="6841540" cy="603504"/>
          </a:xfrm>
          <a:prstGeom prst="round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応募　</a:t>
            </a:r>
            <a:r>
              <a:rPr sz="1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50名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37652" y="2880360"/>
            <a:ext cx="31089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5D6B64"/>
                </a:solidFill>
                <a:latin typeface="Meiryo"/>
                <a:ea typeface="Meiryo"/>
                <a:cs typeface="Meiryo"/>
              </a:rPr>
              <a:t>▼ 面談化 44%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557015"/>
            <a:ext cx="5819241" cy="603504"/>
          </a:xfrm>
          <a:prstGeom prst="round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カジュアル面談　</a:t>
            </a:r>
            <a:r>
              <a:rPr sz="1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22名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15353" y="3630168"/>
            <a:ext cx="31089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5D6B64"/>
                </a:solidFill>
                <a:latin typeface="Meiryo"/>
                <a:ea typeface="Meiryo"/>
                <a:cs typeface="Meiryo"/>
              </a:rPr>
              <a:t>▼ 通過 50%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306824"/>
            <a:ext cx="4796942" cy="603504"/>
          </a:xfrm>
          <a:prstGeom prst="roundRect">
            <a:avLst/>
          </a:prstGeom>
          <a:solidFill>
            <a:srgbClr val="C77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最終面接　</a:t>
            </a:r>
            <a:r>
              <a:rPr sz="1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9名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93054" y="4379976"/>
            <a:ext cx="31089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5D6B64"/>
                </a:solidFill>
                <a:latin typeface="Meiryo"/>
                <a:ea typeface="Meiryo"/>
                <a:cs typeface="Meiryo"/>
              </a:rPr>
              <a:t>▼ 採用 33%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056632"/>
            <a:ext cx="3774643" cy="603504"/>
          </a:xfrm>
          <a:prstGeom prst="round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採用（社員1＋バイト2）　</a:t>
            </a:r>
            <a:r>
              <a:rPr sz="1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32120"/>
            <a:ext cx="108813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※CVR10%・各通過率は中村KPI＋業界相場の仮置き。実数を入れれば「逆算シート」が自動計算します。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方向性｜チャネル別の具体数字（すべて無料媒体）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7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どこから、何人 連れてくるか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216152"/>
            <a:ext cx="2011680" cy="45720"/>
          </a:xfrm>
          <a:prstGeom prst="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55448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737360"/>
                <a:gridCol w="1188720"/>
                <a:gridCol w="420624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チャネル（無料）</a:t>
                      </a:r>
                    </a:p>
                  </a:txBody>
                  <a:tcPr marL="76200" marR="50800" marT="25400" marB="25400" anchor="ctr">
                    <a:solidFill>
                      <a:srgbClr val="0F3D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流入(LP閲覧)</a:t>
                      </a:r>
                    </a:p>
                  </a:txBody>
                  <a:tcPr marL="76200" marR="50800" marT="25400" marB="25400" anchor="ctr">
                    <a:solidFill>
                      <a:srgbClr val="0F3D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応募</a:t>
                      </a:r>
                    </a:p>
                  </a:txBody>
                  <a:tcPr marL="76200" marR="50800" marT="25400" marB="25400" anchor="ctr">
                    <a:solidFill>
                      <a:srgbClr val="0F3D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この数字の作り方</a:t>
                      </a:r>
                    </a:p>
                  </a:txBody>
                  <a:tcPr marL="76200" marR="50800" marT="25400" marB="25400" anchor="ctr">
                    <a:solidFill>
                      <a:srgbClr val="0F3D2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26"/>
                          </a:solidFill>
                          <a:latin typeface="Meiryo"/>
                          <a:ea typeface="Meiryo"/>
                          <a:cs typeface="Meiryo"/>
                        </a:rPr>
                        <a:t>Instagram／リール＋公式LINE</a:t>
                      </a:r>
                    </a:p>
                  </a:txBody>
                  <a:tcPr marL="76200" marR="50800" marT="25400" marB="25400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A26"/>
                          </a:solidFill>
                          <a:latin typeface="Meiryo"/>
                          <a:ea typeface="Meiryo"/>
                          <a:cs typeface="Meiryo"/>
                        </a:rPr>
                        <a:t>175 人</a:t>
                      </a:r>
                    </a:p>
                  </a:txBody>
                  <a:tcPr marL="76200" marR="50800" marT="25400" marB="25400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Meiryo"/>
                          <a:ea typeface="Meiryo"/>
                          <a:cs typeface="Meiryo"/>
                        </a:rPr>
                        <a:t>18 人</a:t>
                      </a:r>
                    </a:p>
                  </a:txBody>
                  <a:tcPr marL="76200" marR="50800" marT="25400" marB="25400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26"/>
                          </a:solidFill>
                          <a:latin typeface="Meiryo"/>
                          <a:ea typeface="Meiryo"/>
                          <a:cs typeface="Meiryo"/>
                        </a:rPr>
                        <a:t>リール約1.8万再生→プロフ→LP(遷移約1%)。最大の伸びしろ</a:t>
                      </a:r>
                    </a:p>
                  </a:txBody>
                  <a:tcPr marL="76200" marR="50800" marT="25400" marB="25400" anchor="ctr">
                    <a:solidFill>
                      <a:srgbClr val="F7F6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26"/>
                          </a:solidFill>
                          <a:latin typeface="Meiryo"/>
                          <a:ea typeface="Meiryo"/>
                          <a:cs typeface="Meiryo"/>
                        </a:rPr>
                        <a:t>無料求人エンジン(engage→Indeed/しごと検索)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A26"/>
                          </a:solidFill>
                          <a:latin typeface="Meiryo"/>
                          <a:ea typeface="Meiryo"/>
                          <a:cs typeface="Meiryo"/>
                        </a:rPr>
                        <a:t>150 人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Meiryo"/>
                          <a:ea typeface="Meiryo"/>
                          <a:cs typeface="Meiryo"/>
                        </a:rPr>
                        <a:t>15 人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26"/>
                          </a:solidFill>
                          <a:latin typeface="Meiryo"/>
                          <a:ea typeface="Meiryo"/>
                          <a:cs typeface="Meiryo"/>
                        </a:rPr>
                        <a:t>1回登録で複数媒体へ自動掲載＋無料スカウト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26"/>
                          </a:solidFill>
                          <a:latin typeface="Meiryo"/>
                          <a:ea typeface="Meiryo"/>
                          <a:cs typeface="Meiryo"/>
                        </a:rPr>
                        <a:t>リファラル＋地域(ハローワーク/ジモティー)</a:t>
                      </a:r>
                    </a:p>
                  </a:txBody>
                  <a:tcPr marL="76200" marR="50800" marT="25400" marB="25400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A26"/>
                          </a:solidFill>
                          <a:latin typeface="Meiryo"/>
                          <a:ea typeface="Meiryo"/>
                          <a:cs typeface="Meiryo"/>
                        </a:rPr>
                        <a:t>125 人</a:t>
                      </a:r>
                    </a:p>
                  </a:txBody>
                  <a:tcPr marL="76200" marR="50800" marT="25400" marB="25400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Meiryo"/>
                          <a:ea typeface="Meiryo"/>
                          <a:cs typeface="Meiryo"/>
                        </a:rPr>
                        <a:t>12 人</a:t>
                      </a:r>
                    </a:p>
                  </a:txBody>
                  <a:tcPr marL="76200" marR="50800" marT="25400" marB="25400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26"/>
                          </a:solidFill>
                          <a:latin typeface="Meiryo"/>
                          <a:ea typeface="Meiryo"/>
                          <a:cs typeface="Meiryo"/>
                        </a:rPr>
                        <a:t>生徒・OB・体育会＋地域無料。テニス好きに直撃</a:t>
                      </a:r>
                    </a:p>
                  </a:txBody>
                  <a:tcPr marL="76200" marR="50800" marT="25400" marB="25400" anchor="ctr">
                    <a:solidFill>
                      <a:srgbClr val="F7F6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26"/>
                          </a:solidFill>
                          <a:latin typeface="Meiryo"/>
                          <a:ea typeface="Meiryo"/>
                          <a:cs typeface="Meiryo"/>
                        </a:rPr>
                        <a:t>チラシ／オフライン(高校・大学→QR)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A26"/>
                          </a:solidFill>
                          <a:latin typeface="Meiryo"/>
                          <a:ea typeface="Meiryo"/>
                          <a:cs typeface="Meiryo"/>
                        </a:rPr>
                        <a:t>50 人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Meiryo"/>
                          <a:ea typeface="Meiryo"/>
                          <a:cs typeface="Meiryo"/>
                        </a:rPr>
                        <a:t>5 人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26"/>
                          </a:solidFill>
                          <a:latin typeface="Meiryo"/>
                          <a:ea typeface="Meiryo"/>
                          <a:cs typeface="Meiryo"/>
                        </a:rPr>
                        <a:t>Z世代・新卒枠。近江さんが配布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3D2E"/>
                          </a:solidFill>
                          <a:latin typeface="Meiryo"/>
                          <a:ea typeface="Meiryo"/>
                          <a:cs typeface="Meiryo"/>
                        </a:rPr>
                        <a:t>合計</a:t>
                      </a:r>
                    </a:p>
                  </a:txBody>
                  <a:tcPr marL="76200" marR="50800" marT="25400" marB="25400" anchor="ctr">
                    <a:solidFill>
                      <a:srgbClr val="EDF5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F3D2E"/>
                          </a:solidFill>
                          <a:latin typeface="Meiryo"/>
                          <a:ea typeface="Meiryo"/>
                          <a:cs typeface="Meiryo"/>
                        </a:rPr>
                        <a:t>500 人</a:t>
                      </a:r>
                    </a:p>
                  </a:txBody>
                  <a:tcPr marL="76200" marR="50800" marT="25400" marB="25400" anchor="ctr">
                    <a:solidFill>
                      <a:srgbClr val="EDF5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F3D2E"/>
                          </a:solidFill>
                          <a:latin typeface="Meiryo"/>
                          <a:ea typeface="Meiryo"/>
                          <a:cs typeface="Meiryo"/>
                        </a:rPr>
                        <a:t>50 人</a:t>
                      </a:r>
                    </a:p>
                  </a:txBody>
                  <a:tcPr marL="76200" marR="50800" marT="25400" marB="25400" anchor="ctr">
                    <a:solidFill>
                      <a:srgbClr val="EDF5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A26"/>
                          </a:solidFill>
                          <a:latin typeface="Meiryo"/>
                          <a:ea typeface="Meiryo"/>
                          <a:cs typeface="Meiryo"/>
                        </a:rPr>
                        <a:t>→ 最終面接 9名 → 採用 3名</a:t>
                      </a:r>
                    </a:p>
                  </a:txBody>
                  <a:tcPr marL="76200" marR="50800" marT="25400" marB="25400" anchor="ctr">
                    <a:solidFill>
                      <a:srgbClr val="EDF5F0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074920"/>
            <a:ext cx="110642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ペルソナ＝「テニス好き・長く続けたい」若手（社員）＋副業層（バイト）。</a:t>
            </a:r>
          </a:p>
          <a:p>
            <a:pPr algn="l"/>
            <a:r>
              <a:rPr sz="11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数字は仮置き。実数（インスタ再生・HP流入・LINE友だち）を入れれば「逆算シート」が自動更新します。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方向性｜採用媒体の方針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7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採用に“消える費用”は使いません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216152"/>
            <a:ext cx="2011680" cy="45720"/>
          </a:xfrm>
          <a:prstGeom prst="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212080" cy="2743200"/>
          </a:xfrm>
          <a:prstGeom prst="roundRect">
            <a:avLst/>
          </a:prstGeom>
          <a:solidFill>
            <a:srgbClr val="FBEEEC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C0392B"/>
                </a:solidFill>
                <a:latin typeface="Meiryo"/>
                <a:ea typeface="Meiryo"/>
                <a:cs typeface="Meiryo"/>
              </a:rPr>
              <a:t>人材紹介（doda/リクルート）</a:t>
            </a:r>
          </a:p>
          <a:p>
            <a:pPr algn="ctr">
              <a:spcAft>
                <a:spcPts val="200"/>
              </a:spcAft>
            </a:pPr>
            <a:r>
              <a:rPr sz="4000" b="1">
                <a:solidFill>
                  <a:srgbClr val="C0392B"/>
                </a:solidFill>
                <a:latin typeface="Meiryo"/>
                <a:ea typeface="Meiryo"/>
                <a:cs typeface="Meiryo"/>
              </a:rPr>
              <a:t>約90〜100万円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社員1人あたり（年収280-300万の30-35%）</a:t>
            </a:r>
          </a:p>
          <a:p>
            <a:pPr algn="ctr"/>
            <a:r>
              <a:rPr sz="1200" b="1">
                <a:solidFill>
                  <a:srgbClr val="C0392B"/>
                </a:solidFill>
                <a:latin typeface="Meiryo"/>
                <a:ea typeface="Meiryo"/>
                <a:cs typeface="Meiryo"/>
              </a:rPr>
              <a:t>✕ 採るたびに消える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45920"/>
            <a:ext cx="5212080" cy="2743200"/>
          </a:xfrm>
          <a:prstGeom prst="roundRect">
            <a:avLst/>
          </a:prstGeom>
          <a:solidFill>
            <a:srgbClr val="EDF5F0"/>
          </a:solidFill>
          <a:ln w="19050">
            <a:solidFill>
              <a:srgbClr val="0F3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私たちの設計（無料媒体）</a:t>
            </a:r>
          </a:p>
          <a:p>
            <a:pPr algn="ctr">
              <a:spcAft>
                <a:spcPts val="200"/>
              </a:spcAft>
            </a:pPr>
            <a:r>
              <a:rPr sz="40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ほぼ ¥0</a:t>
            </a:r>
          </a:p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engage一括配信／Googleしごと検索／リファラル／ハローワーク／ジモティー</a:t>
            </a:r>
          </a:p>
          <a:p>
            <a:pPr algn="ctr"/>
            <a:r>
              <a:rPr sz="11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◎ 仕組みが御社に残る（唯一の有料補強＝スポキャリ¥55,000）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09160"/>
            <a:ext cx="107899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この“使わずに済む採用コスト”が、</a:t>
            </a:r>
            <a:r>
              <a:rPr sz="15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そのまま制作・改善・仕組みづくりの原資</a:t>
            </a:r>
            <a:r>
              <a:rPr sz="15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になります。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36576"/>
          </a:xfrm>
          <a:prstGeom prst="rect">
            <a:avLst/>
          </a:prstGeom>
          <a:solidFill>
            <a:srgbClr val="3A5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100584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1024128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ご提案 ─ 3つのプラン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657600"/>
            <a:ext cx="102412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0">
                <a:solidFill>
                  <a:srgbClr val="CFE0D8"/>
                </a:solidFill>
                <a:latin typeface="Meiryo"/>
                <a:ea typeface="Meiryo"/>
                <a:cs typeface="Meiryo"/>
              </a:rPr>
              <a:t>「どこまでやるか」を、御社が選べる形にしました。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ご提案｜全体像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7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3つのプラン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216152"/>
            <a:ext cx="2011680" cy="45720"/>
          </a:xfrm>
          <a:prstGeom prst="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54480"/>
            <a:ext cx="352044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783080"/>
            <a:ext cx="3108960" cy="3566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PLAN A</a:t>
            </a:r>
          </a:p>
          <a:p>
            <a:pPr algn="ctr">
              <a:spcAft>
                <a:spcPts val="100"/>
              </a:spcAft>
            </a:pPr>
            <a:r>
              <a:rPr sz="19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採用の入口</a:t>
            </a:r>
          </a:p>
          <a:p>
            <a:pPr algn="ctr">
              <a:spcAft>
                <a:spcPts val="800"/>
              </a:spcAft>
            </a:pPr>
            <a:r>
              <a:rPr sz="11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まず、人を採れる状態に</a:t>
            </a:r>
          </a:p>
          <a:p>
            <a:pPr algn="ctr">
              <a:spcAft>
                <a:spcPts val="0"/>
              </a:spcAft>
            </a:pPr>
            <a:r>
              <a:rPr sz="2500" b="1">
                <a:solidFill>
                  <a:srgbClr val="1F2A26"/>
                </a:solidFill>
                <a:latin typeface="Meiryo"/>
                <a:ea typeface="Meiryo"/>
                <a:cs typeface="Meiryo"/>
              </a:rPr>
              <a:t>40〜65万円</a:t>
            </a:r>
          </a:p>
          <a:p>
            <a:pPr algn="ctr">
              <a:spcAft>
                <a:spcPts val="800"/>
              </a:spcAft>
            </a:pPr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単発・目安（税別）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0248" y="1554480"/>
            <a:ext cx="3520440" cy="4023360"/>
          </a:xfrm>
          <a:prstGeom prst="roundRect">
            <a:avLst/>
          </a:prstGeom>
          <a:solidFill>
            <a:srgbClr val="FFFFFF"/>
          </a:solidFill>
          <a:ln w="30480">
            <a:solidFill>
              <a:srgbClr val="E8A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76088" y="1371600"/>
            <a:ext cx="1508760" cy="384048"/>
          </a:xfrm>
          <a:prstGeom prst="round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2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推奨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1783080"/>
            <a:ext cx="3108960" cy="3566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PLAN B</a:t>
            </a:r>
          </a:p>
          <a:p>
            <a:pPr algn="ctr">
              <a:spcAft>
                <a:spcPts val="100"/>
              </a:spcAft>
            </a:pPr>
            <a:r>
              <a:rPr sz="19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バケツの穴を塞ぐ</a:t>
            </a:r>
          </a:p>
          <a:p>
            <a:pPr algn="ctr">
              <a:spcAft>
                <a:spcPts val="800"/>
              </a:spcAft>
            </a:pPr>
            <a:r>
              <a:rPr sz="11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穴を塞ぎ、レジを置く</a:t>
            </a:r>
          </a:p>
          <a:p>
            <a:pPr algn="ctr">
              <a:spcAft>
                <a:spcPts val="0"/>
              </a:spcAft>
            </a:pPr>
            <a:r>
              <a:rPr sz="2500" b="1">
                <a:solidFill>
                  <a:srgbClr val="1F2A26"/>
                </a:solidFill>
                <a:latin typeface="Meiryo"/>
                <a:ea typeface="Meiryo"/>
                <a:cs typeface="Meiryo"/>
              </a:rPr>
              <a:t>90〜120万円</a:t>
            </a:r>
          </a:p>
          <a:p>
            <a:pPr algn="ctr">
              <a:spcAft>
                <a:spcPts val="800"/>
              </a:spcAft>
            </a:pPr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単発・目安（税別）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7" y="1554480"/>
            <a:ext cx="3520440" cy="4023360"/>
          </a:xfrm>
          <a:prstGeom prst="roundRect">
            <a:avLst/>
          </a:prstGeom>
          <a:solidFill>
            <a:srgbClr val="FFFFFF"/>
          </a:solidFill>
          <a:ln w="30480">
            <a:solidFill>
              <a:srgbClr val="0F3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979407" y="1371600"/>
            <a:ext cx="1508760" cy="384048"/>
          </a:xfrm>
          <a:prstGeom prst="round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本命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2167" y="1783080"/>
            <a:ext cx="3108960" cy="3566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PLAN C</a:t>
            </a:r>
          </a:p>
          <a:p>
            <a:pPr algn="ctr">
              <a:spcAft>
                <a:spcPts val="100"/>
              </a:spcAft>
            </a:pPr>
            <a:r>
              <a:rPr sz="19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数えて磨いて伴走</a:t>
            </a:r>
          </a:p>
          <a:p>
            <a:pPr algn="ctr">
              <a:spcAft>
                <a:spcPts val="800"/>
              </a:spcAft>
            </a:pPr>
            <a:r>
              <a:rPr sz="11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直すだけで終わらせない</a:t>
            </a:r>
          </a:p>
          <a:p>
            <a:pPr algn="ctr">
              <a:spcAft>
                <a:spcPts val="0"/>
              </a:spcAft>
            </a:pPr>
            <a:r>
              <a:rPr sz="2500" b="1">
                <a:solidFill>
                  <a:srgbClr val="1F2A26"/>
                </a:solidFill>
                <a:latin typeface="Meiryo"/>
                <a:ea typeface="Meiryo"/>
                <a:cs typeface="Meiryo"/>
              </a:rPr>
              <a:t>初期120〜160万＋月15万</a:t>
            </a:r>
          </a:p>
          <a:p>
            <a:pPr algn="ctr">
              <a:spcAft>
                <a:spcPts val="800"/>
              </a:spcAft>
            </a:pPr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初期＋伴走・目安（税別）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51960"/>
            <a:ext cx="3520440" cy="1234440"/>
          </a:xfrm>
          <a:prstGeom prst="roundRect">
            <a:avLst/>
          </a:prstGeom>
          <a:solidFill>
            <a:srgbClr val="F7F6F2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F2A26"/>
                </a:solidFill>
                <a:latin typeface="Meiryo"/>
                <a:ea typeface="Meiryo"/>
                <a:cs typeface="Meiryo"/>
              </a:rPr>
              <a:t>採用LP・しごと検索・採用導線</a:t>
            </a:r>
          </a:p>
          <a:p>
            <a:pPr algn="ctr"/>
            <a:r>
              <a:rPr sz="105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採用の一点突破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70248" y="4251960"/>
            <a:ext cx="3520440" cy="1234440"/>
          </a:xfrm>
          <a:prstGeom prst="roundRect">
            <a:avLst/>
          </a:prstGeom>
          <a:solidFill>
            <a:srgbClr val="FBF3E6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F2A26"/>
                </a:solidFill>
                <a:latin typeface="Meiryo"/>
                <a:ea typeface="Meiryo"/>
                <a:cs typeface="Meiryo"/>
              </a:rPr>
              <a:t>＋HPの穴を塞ぐ・計測・LINE・AIスカウト</a:t>
            </a:r>
          </a:p>
          <a:p>
            <a:pPr algn="ctr"/>
            <a:r>
              <a:rPr sz="105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推奨：土台を一度の工事で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7" y="4251960"/>
            <a:ext cx="3520440" cy="1234440"/>
          </a:xfrm>
          <a:prstGeom prst="roundRect">
            <a:avLst/>
          </a:prstGeom>
          <a:solidFill>
            <a:srgbClr val="EDF5F0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F2A26"/>
                </a:solidFill>
                <a:latin typeface="Meiryo"/>
                <a:ea typeface="Meiryo"/>
                <a:cs typeface="Meiryo"/>
              </a:rPr>
              <a:t>＋HP刷新・ブランド型化・運用伴走</a:t>
            </a:r>
          </a:p>
          <a:p>
            <a:pPr algn="ctr"/>
            <a:r>
              <a:rPr sz="105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本命：手離れ→西宮まで伴走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650992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※金額は目安です。ご予算・承認フローに合わせて調整します。初回をオーナー承認不要の範囲で小さく始め、実績を見て伸ばす進め方も可能です。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ご提案｜まず、人を採れる状態をつくる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7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PLAN A：採用の入口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216152"/>
            <a:ext cx="2011680" cy="45720"/>
          </a:xfrm>
          <a:prstGeom prst="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371600"/>
            <a:ext cx="3291840" cy="1143000"/>
          </a:xfrm>
          <a:prstGeom prst="roundRect">
            <a:avLst/>
          </a:prstGeom>
          <a:solidFill>
            <a:srgbClr val="264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PLAN A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40〜65万円</a:t>
            </a:r>
          </a:p>
          <a:p>
            <a:pPr algn="ctr"/>
            <a:r>
              <a:rPr sz="1000" b="0">
                <a:solidFill>
                  <a:srgbClr val="E6EFEA"/>
                </a:solidFill>
                <a:latin typeface="Meiryo"/>
                <a:ea typeface="Meiryo"/>
                <a:cs typeface="Meiryo"/>
              </a:rPr>
              <a:t>単発・目安（税別）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463040"/>
            <a:ext cx="73152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50" b="1">
                <a:solidFill>
                  <a:srgbClr val="1E8449"/>
                </a:solidFill>
                <a:latin typeface="Meiryo"/>
                <a:ea typeface="Meiryo"/>
                <a:cs typeface="Meiryo"/>
              </a:rPr>
              <a:t>✓ </a:t>
            </a:r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採用ペルソナ設計（近江さん定義＝若く長く続く現場コーチ）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73152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50" b="1">
                <a:solidFill>
                  <a:srgbClr val="1E8449"/>
                </a:solidFill>
                <a:latin typeface="Meiryo"/>
                <a:ea typeface="Meiryo"/>
                <a:cs typeface="Meiryo"/>
              </a:rPr>
              <a:t>✓ </a:t>
            </a:r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採用LPの磨き込み・本番稼働化（既存資産を活用）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743200"/>
            <a:ext cx="73152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50" b="1">
                <a:solidFill>
                  <a:srgbClr val="1E8449"/>
                </a:solidFill>
                <a:latin typeface="Meiryo"/>
                <a:ea typeface="Meiryo"/>
                <a:cs typeface="Meiryo"/>
              </a:rPr>
              <a:t>✓ </a:t>
            </a:r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Googleしごと検索の有効化（無料掲載）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383280"/>
            <a:ext cx="73152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50" b="1">
                <a:solidFill>
                  <a:srgbClr val="1E8449"/>
                </a:solidFill>
                <a:latin typeface="Meiryo"/>
                <a:ea typeface="Meiryo"/>
                <a:cs typeface="Meiryo"/>
              </a:rPr>
              <a:t>✓ </a:t>
            </a:r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Instagram採用導線・採用バナー・OGP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023360"/>
            <a:ext cx="73152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50" b="1">
                <a:solidFill>
                  <a:srgbClr val="1E8449"/>
                </a:solidFill>
                <a:latin typeface="Meiryo"/>
                <a:ea typeface="Meiryo"/>
                <a:cs typeface="Meiryo"/>
              </a:rPr>
              <a:t>✓ </a:t>
            </a:r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採用CVの計測ポイント設計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10881360" cy="868680"/>
          </a:xfrm>
          <a:prstGeom prst="roundRect">
            <a:avLst/>
          </a:prstGeom>
          <a:solidFill>
            <a:srgbClr val="EDF5F0"/>
          </a:solidFill>
          <a:ln w="15240">
            <a:solidFill>
              <a:srgbClr val="0F3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3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想定応募：30日で 10〜20件（しごと検索＋無料媒体の露出見込み・仮置き）／ まず小さく承認を通したい方へ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ご提案｜蛇口は強い。穴を塞ぎ、レジを置く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7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PLAN B：バケツの穴を塞ぐ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216152"/>
            <a:ext cx="2011680" cy="45720"/>
          </a:xfrm>
          <a:prstGeom prst="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371600"/>
            <a:ext cx="3291840" cy="1143000"/>
          </a:xfrm>
          <a:prstGeom prst="round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PLAN B　推奨</a:t>
            </a:r>
          </a:p>
          <a:p>
            <a:pPr algn="ctr"/>
            <a:r>
              <a:rPr sz="22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90〜120万円</a:t>
            </a:r>
          </a:p>
          <a:p>
            <a:pPr algn="ctr"/>
            <a:r>
              <a:rPr sz="1000" b="0">
                <a:solidFill>
                  <a:srgbClr val="0F3D2E"/>
                </a:solidFill>
                <a:latin typeface="Meiryo"/>
                <a:ea typeface="Meiryo"/>
                <a:cs typeface="Meiryo"/>
              </a:rPr>
              <a:t>単発・目安（税別）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463040"/>
            <a:ext cx="73152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50" b="1">
                <a:solidFill>
                  <a:srgbClr val="1E8449"/>
                </a:solidFill>
                <a:latin typeface="Meiryo"/>
                <a:ea typeface="Meiryo"/>
                <a:cs typeface="Meiryo"/>
              </a:rPr>
              <a:t>✓ </a:t>
            </a:r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プランA の内容すべて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7315200" cy="566928"/>
          </a:xfrm>
          <a:prstGeom prst="roundRect">
            <a:avLst/>
          </a:prstGeom>
          <a:solidFill>
            <a:srgbClr val="FBF3E6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5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＋ </a:t>
            </a:r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CV計測の実装＝「レジを置く」（予約/問合せ/電話/入会など主要6種）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743200"/>
            <a:ext cx="7315200" cy="566928"/>
          </a:xfrm>
          <a:prstGeom prst="roundRect">
            <a:avLst/>
          </a:prstGeom>
          <a:solidFill>
            <a:srgbClr val="FBF3E6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5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＋ </a:t>
            </a:r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Instagram→HP断絶の解消・有料広告の正体特定（UTM）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383280"/>
            <a:ext cx="7315200" cy="566928"/>
          </a:xfrm>
          <a:prstGeom prst="roundRect">
            <a:avLst/>
          </a:prstGeom>
          <a:solidFill>
            <a:srgbClr val="FBF3E6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5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＋ </a:t>
            </a:r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Search Console連携 ／ 404リンク切れ修正 ／ スマホ最適化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023360"/>
            <a:ext cx="7315200" cy="566928"/>
          </a:xfrm>
          <a:prstGeom prst="roundRect">
            <a:avLst/>
          </a:prstGeom>
          <a:solidFill>
            <a:srgbClr val="FBF3E6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5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＋ </a:t>
            </a:r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無料求人媒体の面展開 ＋ 公式LINE開設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663440"/>
            <a:ext cx="7315200" cy="566928"/>
          </a:xfrm>
          <a:prstGeom prst="roundRect">
            <a:avLst/>
          </a:prstGeom>
          <a:solidFill>
            <a:srgbClr val="FBF3E6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5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＋ </a:t>
            </a:r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AIで応募者への声かけを下書き自動化（最終送信は人）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303520"/>
            <a:ext cx="7315200" cy="566928"/>
          </a:xfrm>
          <a:prstGeom prst="roundRect">
            <a:avLst/>
          </a:prstGeom>
          <a:solidFill>
            <a:srgbClr val="FBF3E6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5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＋ </a:t>
            </a:r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KPIダッシュボード（社長が一目で見られる1枚）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989320"/>
            <a:ext cx="10881360" cy="868680"/>
          </a:xfrm>
          <a:prstGeom prst="roundRect">
            <a:avLst/>
          </a:prstGeom>
          <a:solidFill>
            <a:srgbClr val="EDF5F0"/>
          </a:solidFill>
          <a:ln w="15240">
            <a:solidFill>
              <a:srgbClr val="0F3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3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★初期設定後はダッシュボードを見るだけ。運用の手間は最小（近江さん・スタッフでも回せる手順込み）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ご提案｜投資回収シミュレーション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7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プランB は、何ヶ月で回収できるか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216152"/>
            <a:ext cx="2011680" cy="45720"/>
          </a:xfrm>
          <a:prstGeom prst="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371600"/>
            <a:ext cx="11064240" cy="640080"/>
          </a:xfrm>
          <a:prstGeom prst="roundRect">
            <a:avLst/>
          </a:prstGeom>
          <a:solidFill>
            <a:srgbClr val="EDF5F0"/>
          </a:solidFill>
          <a:ln w="12700">
            <a:solidFill>
              <a:srgbClr val="0F3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371600"/>
            <a:ext cx="11064240" cy="640080"/>
          </a:xfrm>
          <a:prstGeom prst="roundRect">
            <a:avLst/>
          </a:prstGeom>
          <a:solidFill>
            <a:srgbClr val="EDF5F0"/>
          </a:solidFill>
          <a:ln w="12700">
            <a:solidFill>
              <a:srgbClr val="0F3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4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投資 約90〜120万円。入会1件の価値を約24万円【仮置き】とすると──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286000"/>
            <a:ext cx="534924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6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264831"/>
                </a:solidFill>
                <a:latin typeface="Meiryo"/>
                <a:ea typeface="Meiryo"/>
                <a:cs typeface="Meiryo"/>
              </a:rPr>
              <a:t>保守ケース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追加入会 月+1件　→　24万円/月</a:t>
            </a:r>
          </a:p>
          <a:p>
            <a:pPr algn="ctr"/>
            <a:r>
              <a:rPr sz="2000" b="1">
                <a:solidFill>
                  <a:srgbClr val="264831"/>
                </a:solidFill>
                <a:latin typeface="Meiryo"/>
                <a:ea typeface="Meiryo"/>
                <a:cs typeface="Meiryo"/>
              </a:rPr>
              <a:t>約5ヶ月で回収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86000"/>
            <a:ext cx="534924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3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標準ケース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追加入会 月+2件　→　48万円/月</a:t>
            </a:r>
          </a:p>
          <a:p>
            <a:pPr algn="ctr"/>
            <a:r>
              <a:rPr sz="20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約3ヶ月で回収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51960"/>
            <a:ext cx="10835640" cy="868680"/>
          </a:xfrm>
          <a:prstGeom prst="roundRect">
            <a:avLst/>
          </a:prstGeom>
          <a:solidFill>
            <a:srgbClr val="FBF3E6"/>
          </a:solidFill>
          <a:ln w="15240">
            <a:solidFill>
              <a:srgbClr val="E8A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835640" cy="868680"/>
          </a:xfrm>
          <a:prstGeom prst="roundRect">
            <a:avLst/>
          </a:prstGeom>
          <a:solidFill>
            <a:srgbClr val="FBF3E6"/>
          </a:solidFill>
          <a:ln w="12700">
            <a:solidFill>
              <a:srgbClr val="E8A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4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さらに、</a:t>
            </a:r>
            <a:r>
              <a:rPr sz="1400" b="1">
                <a:solidFill>
                  <a:srgbClr val="C0392B"/>
                </a:solidFill>
                <a:latin typeface="Meiryo"/>
                <a:ea typeface="Meiryo"/>
                <a:cs typeface="Meiryo"/>
              </a:rPr>
              <a:t>社員1人を人材紹介で採ると約90〜100万円</a:t>
            </a:r>
            <a:r>
              <a:rPr sz="14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。それを使わないだけで、Bの費用はほぼ相殺されます。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25780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※数字は仮置き。実数（会員数・月謝・入会率）をMTGで伺い、逆算シートで確定値をその場でお出しします。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ご提案｜直すだけで終わらせない。回し続ける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7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PLAN C：数えて、磨いて、伴走する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216152"/>
            <a:ext cx="2011680" cy="45720"/>
          </a:xfrm>
          <a:prstGeom prst="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371600"/>
            <a:ext cx="3291840" cy="1143000"/>
          </a:xfrm>
          <a:prstGeom prst="round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PLAN C　本命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初期120〜160万＋月15万</a:t>
            </a:r>
          </a:p>
          <a:p>
            <a:pPr algn="ctr"/>
            <a:r>
              <a:rPr sz="1000" b="0">
                <a:solidFill>
                  <a:srgbClr val="E6EFEA"/>
                </a:solidFill>
                <a:latin typeface="Meiryo"/>
                <a:ea typeface="Meiryo"/>
                <a:cs typeface="Meiryo"/>
              </a:rPr>
              <a:t>初期＋伴走・目安（税別）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463040"/>
            <a:ext cx="73152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50" b="1">
                <a:solidFill>
                  <a:srgbClr val="1E8449"/>
                </a:solidFill>
                <a:latin typeface="Meiryo"/>
                <a:ea typeface="Meiryo"/>
                <a:cs typeface="Meiryo"/>
              </a:rPr>
              <a:t>✓ </a:t>
            </a:r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プランB の内容すべて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7315200" cy="566928"/>
          </a:xfrm>
          <a:prstGeom prst="roundRect">
            <a:avLst/>
          </a:prstGeom>
          <a:solidFill>
            <a:srgbClr val="FBF3E6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5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＋ </a:t>
            </a:r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HP全体のビジュアル刷新・情報設計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743200"/>
            <a:ext cx="7315200" cy="566928"/>
          </a:xfrm>
          <a:prstGeom prst="roundRect">
            <a:avLst/>
          </a:prstGeom>
          <a:solidFill>
            <a:srgbClr val="FBF3E6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5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＋ </a:t>
            </a:r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ブランドフレームワーク（Instagram投稿/リール型/運用マニュアル）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383280"/>
            <a:ext cx="7315200" cy="566928"/>
          </a:xfrm>
          <a:prstGeom prst="roundRect">
            <a:avLst/>
          </a:prstGeom>
          <a:solidFill>
            <a:srgbClr val="FBF3E6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5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＋ </a:t>
            </a:r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AIロープレ（保護者対応・入会クロージングの練習）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023360"/>
            <a:ext cx="7315200" cy="566928"/>
          </a:xfrm>
          <a:prstGeom prst="roundRect">
            <a:avLst/>
          </a:prstGeom>
          <a:solidFill>
            <a:srgbClr val="FBF3E6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5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＋ </a:t>
            </a:r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LINE自動応答 ／ SEOコラム（AI下書き＋監修）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663440"/>
            <a:ext cx="7315200" cy="566928"/>
          </a:xfrm>
          <a:prstGeom prst="roundRect">
            <a:avLst/>
          </a:prstGeom>
          <a:solidFill>
            <a:srgbClr val="FBF3E6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5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＋ </a:t>
            </a:r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月次レポート＋戦略MTG／採用KPI進捗管理（小改修込み）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349240"/>
            <a:ext cx="10881360" cy="868680"/>
          </a:xfrm>
          <a:prstGeom prst="roundRect">
            <a:avLst/>
          </a:prstGeom>
          <a:solidFill>
            <a:srgbClr val="EDF5F0"/>
          </a:solidFill>
          <a:ln w="15240">
            <a:solidFill>
              <a:srgbClr val="0F3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3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月15万の中身＝毎月の“お約束”：月次レポート＋戦略MTG／施策の実行／改善／3ヶ月で中間レビュー（縮小・停止OK）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ご提案｜プランC の価値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7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同じご予算をかけるなら「残るか・消えるか」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216152"/>
            <a:ext cx="2011680" cy="45720"/>
          </a:xfrm>
          <a:prstGeom prst="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212080" cy="3108960"/>
          </a:xfrm>
          <a:prstGeom prst="roundRect">
            <a:avLst/>
          </a:prstGeom>
          <a:solidFill>
            <a:srgbClr val="FBEEEC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C0392B"/>
                </a:solidFill>
                <a:latin typeface="Meiryo"/>
                <a:ea typeface="Meiryo"/>
                <a:cs typeface="Meiryo"/>
              </a:rPr>
              <a:t>人材紹介にお金をかけても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・人は採れる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・でも、それで終わり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・資産は残らない</a:t>
            </a:r>
          </a:p>
          <a:p>
            <a:pPr algn="ctr"/>
            <a:r>
              <a:rPr sz="1300" b="1">
                <a:solidFill>
                  <a:srgbClr val="C0392B"/>
                </a:solidFill>
                <a:latin typeface="Meiryo"/>
                <a:ea typeface="Meiryo"/>
                <a:cs typeface="Meiryo"/>
              </a:rPr>
              <a:t>・来年もまた同じ費用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45920"/>
            <a:ext cx="5212080" cy="3108960"/>
          </a:xfrm>
          <a:prstGeom prst="roundRect">
            <a:avLst/>
          </a:prstGeom>
          <a:solidFill>
            <a:srgbClr val="EDF5F0"/>
          </a:solidFill>
          <a:ln w="19050">
            <a:solidFill>
              <a:srgbClr val="0F3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同じご予算をプランCにかけると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・人も採れる（無料媒体）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・HP/ブランド/計測基盤が残る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・運用を回す力が社内に残る</a:t>
            </a:r>
          </a:p>
          <a:p>
            <a:pPr algn="ctr"/>
            <a:r>
              <a:rPr sz="13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・来年以降の採用・集客コストが下がる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107899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同じ金額なら、</a:t>
            </a:r>
            <a:r>
              <a:rPr sz="15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“消える費用”より“残る資産”。</a:t>
            </a:r>
            <a:r>
              <a:rPr sz="15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これがプランCの考え方です。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ご提案｜何が付くか一目で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7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3プラン 比較表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216152"/>
            <a:ext cx="2011680" cy="45720"/>
          </a:xfrm>
          <a:prstGeom prst="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23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1463040"/>
                <a:gridCol w="1463040"/>
                <a:gridCol w="146304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含まれるもの</a:t>
                      </a:r>
                    </a:p>
                  </a:txBody>
                  <a:tcPr marL="76200" marR="50800" marT="12700" marB="12700" anchor="ctr">
                    <a:solidFill>
                      <a:srgbClr val="0F3D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A</a:t>
                      </a:r>
                    </a:p>
                  </a:txBody>
                  <a:tcPr marL="76200" marR="50800" marT="12700" marB="12700" anchor="ctr">
                    <a:solidFill>
                      <a:srgbClr val="0F3D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B</a:t>
                      </a:r>
                    </a:p>
                  </a:txBody>
                  <a:tcPr marL="76200" marR="50800" marT="12700" marB="12700" anchor="ctr">
                    <a:solidFill>
                      <a:srgbClr val="0F3D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C</a:t>
                      </a:r>
                    </a:p>
                  </a:txBody>
                  <a:tcPr marL="76200" marR="50800" marT="12700" marB="12700" anchor="ctr">
                    <a:solidFill>
                      <a:srgbClr val="0F3D2E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A26"/>
                          </a:solidFill>
                          <a:latin typeface="Meiryo"/>
                          <a:ea typeface="Meiryo"/>
                          <a:cs typeface="Meiryo"/>
                        </a:rPr>
                        <a:t>採用LP・しごと検索・採用導線</a:t>
                      </a:r>
                    </a:p>
                  </a:txBody>
                  <a:tcPr marL="76200" marR="50800" marT="12700" marB="12700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3D2E"/>
                          </a:solidFill>
                          <a:latin typeface="Meiryo"/>
                          <a:ea typeface="Meiryo"/>
                          <a:cs typeface="Meiryo"/>
                        </a:rPr>
                        <a:t>○</a:t>
                      </a:r>
                    </a:p>
                  </a:txBody>
                  <a:tcPr marL="76200" marR="50800" marT="12700" marB="12700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3D2E"/>
                          </a:solidFill>
                          <a:latin typeface="Meiryo"/>
                          <a:ea typeface="Meiryo"/>
                          <a:cs typeface="Meiryo"/>
                        </a:rPr>
                        <a:t>○</a:t>
                      </a:r>
                    </a:p>
                  </a:txBody>
                  <a:tcPr marL="76200" marR="50800" marT="12700" marB="12700" anchor="ctr">
                    <a:solidFill>
                      <a:srgbClr val="FBF3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3D2E"/>
                          </a:solidFill>
                          <a:latin typeface="Meiryo"/>
                          <a:ea typeface="Meiryo"/>
                          <a:cs typeface="Meiryo"/>
                        </a:rPr>
                        <a:t>○</a:t>
                      </a:r>
                    </a:p>
                  </a:txBody>
                  <a:tcPr marL="76200" marR="50800" marT="12700" marB="12700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A26"/>
                          </a:solidFill>
                          <a:latin typeface="Meiryo"/>
                          <a:ea typeface="Meiryo"/>
                          <a:cs typeface="Meiryo"/>
                        </a:rPr>
                        <a:t>① CV計測（レジ設置・主要6種）</a:t>
                      </a:r>
                    </a:p>
                  </a:txBody>
                  <a:tcPr marL="762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BFBFBF"/>
                          </a:solidFill>
                          <a:latin typeface="Meiryo"/>
                          <a:ea typeface="Meiryo"/>
                          <a:cs typeface="Meiryo"/>
                        </a:rPr>
                        <a:t>−</a:t>
                      </a:r>
                    </a:p>
                  </a:txBody>
                  <a:tcPr marL="762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3D2E"/>
                          </a:solidFill>
                          <a:latin typeface="Meiryo"/>
                          <a:ea typeface="Meiryo"/>
                          <a:cs typeface="Meiryo"/>
                        </a:rPr>
                        <a:t>○</a:t>
                      </a:r>
                    </a:p>
                  </a:txBody>
                  <a:tcPr marL="76200" marR="50800" marT="12700" marB="12700" anchor="ctr">
                    <a:solidFill>
                      <a:srgbClr val="FBF3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8449"/>
                          </a:solidFill>
                          <a:latin typeface="Meiryo"/>
                          <a:ea typeface="Meiryo"/>
                          <a:cs typeface="Meiryo"/>
                        </a:rPr>
                        <a:t>◎</a:t>
                      </a:r>
                    </a:p>
                  </a:txBody>
                  <a:tcPr marL="762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A26"/>
                          </a:solidFill>
                          <a:latin typeface="Meiryo"/>
                          <a:ea typeface="Meiryo"/>
                          <a:cs typeface="Meiryo"/>
                        </a:rPr>
                        <a:t>② Instagram→HP導線・③広告UTM</a:t>
                      </a:r>
                    </a:p>
                  </a:txBody>
                  <a:tcPr marL="76200" marR="50800" marT="12700" marB="12700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BFBFBF"/>
                          </a:solidFill>
                          <a:latin typeface="Meiryo"/>
                          <a:ea typeface="Meiryo"/>
                          <a:cs typeface="Meiryo"/>
                        </a:rPr>
                        <a:t>−</a:t>
                      </a:r>
                    </a:p>
                  </a:txBody>
                  <a:tcPr marL="76200" marR="50800" marT="12700" marB="12700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3D2E"/>
                          </a:solidFill>
                          <a:latin typeface="Meiryo"/>
                          <a:ea typeface="Meiryo"/>
                          <a:cs typeface="Meiryo"/>
                        </a:rPr>
                        <a:t>○</a:t>
                      </a:r>
                    </a:p>
                  </a:txBody>
                  <a:tcPr marL="76200" marR="50800" marT="12700" marB="12700" anchor="ctr">
                    <a:solidFill>
                      <a:srgbClr val="FBF3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8449"/>
                          </a:solidFill>
                          <a:latin typeface="Meiryo"/>
                          <a:ea typeface="Meiryo"/>
                          <a:cs typeface="Meiryo"/>
                        </a:rPr>
                        <a:t>◎</a:t>
                      </a:r>
                    </a:p>
                  </a:txBody>
                  <a:tcPr marL="76200" marR="50800" marT="12700" marB="12700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A26"/>
                          </a:solidFill>
                          <a:latin typeface="Meiryo"/>
                          <a:ea typeface="Meiryo"/>
                          <a:cs typeface="Meiryo"/>
                        </a:rPr>
                        <a:t>④ Search Console ／ ⑤404 ／ ⑥スマホ最適化</a:t>
                      </a:r>
                    </a:p>
                  </a:txBody>
                  <a:tcPr marL="762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BFBFBF"/>
                          </a:solidFill>
                          <a:latin typeface="Meiryo"/>
                          <a:ea typeface="Meiryo"/>
                          <a:cs typeface="Meiryo"/>
                        </a:rPr>
                        <a:t>−</a:t>
                      </a:r>
                    </a:p>
                  </a:txBody>
                  <a:tcPr marL="762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3D2E"/>
                          </a:solidFill>
                          <a:latin typeface="Meiryo"/>
                          <a:ea typeface="Meiryo"/>
                          <a:cs typeface="Meiryo"/>
                        </a:rPr>
                        <a:t>○</a:t>
                      </a:r>
                    </a:p>
                  </a:txBody>
                  <a:tcPr marL="76200" marR="50800" marT="12700" marB="12700" anchor="ctr">
                    <a:solidFill>
                      <a:srgbClr val="FBF3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8449"/>
                          </a:solidFill>
                          <a:latin typeface="Meiryo"/>
                          <a:ea typeface="Meiryo"/>
                          <a:cs typeface="Meiryo"/>
                        </a:rPr>
                        <a:t>◎</a:t>
                      </a:r>
                    </a:p>
                  </a:txBody>
                  <a:tcPr marL="762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A26"/>
                          </a:solidFill>
                          <a:latin typeface="Meiryo"/>
                          <a:ea typeface="Meiryo"/>
                          <a:cs typeface="Meiryo"/>
                        </a:rPr>
                        <a:t>無料求人媒体の面展開・公式LINE</a:t>
                      </a:r>
                    </a:p>
                  </a:txBody>
                  <a:tcPr marL="76200" marR="50800" marT="12700" marB="12700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BFBFBF"/>
                          </a:solidFill>
                          <a:latin typeface="Meiryo"/>
                          <a:ea typeface="Meiryo"/>
                          <a:cs typeface="Meiryo"/>
                        </a:rPr>
                        <a:t>−</a:t>
                      </a:r>
                    </a:p>
                  </a:txBody>
                  <a:tcPr marL="76200" marR="50800" marT="12700" marB="12700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3D2E"/>
                          </a:solidFill>
                          <a:latin typeface="Meiryo"/>
                          <a:ea typeface="Meiryo"/>
                          <a:cs typeface="Meiryo"/>
                        </a:rPr>
                        <a:t>○</a:t>
                      </a:r>
                    </a:p>
                  </a:txBody>
                  <a:tcPr marL="76200" marR="50800" marT="12700" marB="12700" anchor="ctr">
                    <a:solidFill>
                      <a:srgbClr val="FBF3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8449"/>
                          </a:solidFill>
                          <a:latin typeface="Meiryo"/>
                          <a:ea typeface="Meiryo"/>
                          <a:cs typeface="Meiryo"/>
                        </a:rPr>
                        <a:t>◎</a:t>
                      </a:r>
                    </a:p>
                  </a:txBody>
                  <a:tcPr marL="76200" marR="50800" marT="12700" marB="12700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A26"/>
                          </a:solidFill>
                          <a:latin typeface="Meiryo"/>
                          <a:ea typeface="Meiryo"/>
                          <a:cs typeface="Meiryo"/>
                        </a:rPr>
                        <a:t>AI半自動スカウト ／ KPIダッシュボード</a:t>
                      </a:r>
                    </a:p>
                  </a:txBody>
                  <a:tcPr marL="762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BFBFBF"/>
                          </a:solidFill>
                          <a:latin typeface="Meiryo"/>
                          <a:ea typeface="Meiryo"/>
                          <a:cs typeface="Meiryo"/>
                        </a:rPr>
                        <a:t>−</a:t>
                      </a:r>
                    </a:p>
                  </a:txBody>
                  <a:tcPr marL="762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3D2E"/>
                          </a:solidFill>
                          <a:latin typeface="Meiryo"/>
                          <a:ea typeface="Meiryo"/>
                          <a:cs typeface="Meiryo"/>
                        </a:rPr>
                        <a:t>○</a:t>
                      </a:r>
                    </a:p>
                  </a:txBody>
                  <a:tcPr marL="76200" marR="50800" marT="12700" marB="12700" anchor="ctr">
                    <a:solidFill>
                      <a:srgbClr val="FBF3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8449"/>
                          </a:solidFill>
                          <a:latin typeface="Meiryo"/>
                          <a:ea typeface="Meiryo"/>
                          <a:cs typeface="Meiryo"/>
                        </a:rPr>
                        <a:t>◎</a:t>
                      </a:r>
                    </a:p>
                  </a:txBody>
                  <a:tcPr marL="762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A26"/>
                          </a:solidFill>
                          <a:latin typeface="Meiryo"/>
                          <a:ea typeface="Meiryo"/>
                          <a:cs typeface="Meiryo"/>
                        </a:rPr>
                        <a:t>HP全体刷新・ブランド型化・運用マニュアル</a:t>
                      </a:r>
                    </a:p>
                  </a:txBody>
                  <a:tcPr marL="76200" marR="50800" marT="12700" marB="12700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BFBFBF"/>
                          </a:solidFill>
                          <a:latin typeface="Meiryo"/>
                          <a:ea typeface="Meiryo"/>
                          <a:cs typeface="Meiryo"/>
                        </a:rPr>
                        <a:t>−</a:t>
                      </a:r>
                    </a:p>
                  </a:txBody>
                  <a:tcPr marL="76200" marR="50800" marT="12700" marB="12700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BFBFBF"/>
                          </a:solidFill>
                          <a:latin typeface="Meiryo"/>
                          <a:ea typeface="Meiryo"/>
                          <a:cs typeface="Meiryo"/>
                        </a:rPr>
                        <a:t>−</a:t>
                      </a:r>
                    </a:p>
                  </a:txBody>
                  <a:tcPr marL="76200" marR="50800" marT="12700" marB="12700" anchor="ctr">
                    <a:solidFill>
                      <a:srgbClr val="FBF3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3D2E"/>
                          </a:solidFill>
                          <a:latin typeface="Meiryo"/>
                          <a:ea typeface="Meiryo"/>
                          <a:cs typeface="Meiryo"/>
                        </a:rPr>
                        <a:t>○</a:t>
                      </a:r>
                    </a:p>
                  </a:txBody>
                  <a:tcPr marL="76200" marR="50800" marT="12700" marB="12700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A26"/>
                          </a:solidFill>
                          <a:latin typeface="Meiryo"/>
                          <a:ea typeface="Meiryo"/>
                          <a:cs typeface="Meiryo"/>
                        </a:rPr>
                        <a:t>AIロープレ／LINE自動応答／SEOコラム</a:t>
                      </a:r>
                    </a:p>
                  </a:txBody>
                  <a:tcPr marL="762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BFBFBF"/>
                          </a:solidFill>
                          <a:latin typeface="Meiryo"/>
                          <a:ea typeface="Meiryo"/>
                          <a:cs typeface="Meiryo"/>
                        </a:rPr>
                        <a:t>−</a:t>
                      </a:r>
                    </a:p>
                  </a:txBody>
                  <a:tcPr marL="762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BFBFBF"/>
                          </a:solidFill>
                          <a:latin typeface="Meiryo"/>
                          <a:ea typeface="Meiryo"/>
                          <a:cs typeface="Meiryo"/>
                        </a:rPr>
                        <a:t>−</a:t>
                      </a:r>
                    </a:p>
                  </a:txBody>
                  <a:tcPr marL="76200" marR="50800" marT="12700" marB="12700" anchor="ctr">
                    <a:solidFill>
                      <a:srgbClr val="FBF3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3D2E"/>
                          </a:solidFill>
                          <a:latin typeface="Meiryo"/>
                          <a:ea typeface="Meiryo"/>
                          <a:cs typeface="Meiryo"/>
                        </a:rPr>
                        <a:t>○</a:t>
                      </a:r>
                    </a:p>
                  </a:txBody>
                  <a:tcPr marL="762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A26"/>
                          </a:solidFill>
                          <a:latin typeface="Meiryo"/>
                          <a:ea typeface="Meiryo"/>
                          <a:cs typeface="Meiryo"/>
                        </a:rPr>
                        <a:t>月次レポート＋戦略MTG（伴走・小改修込み）</a:t>
                      </a:r>
                    </a:p>
                  </a:txBody>
                  <a:tcPr marL="76200" marR="50800" marT="12700" marB="12700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BFBFBF"/>
                          </a:solidFill>
                          <a:latin typeface="Meiryo"/>
                          <a:ea typeface="Meiryo"/>
                          <a:cs typeface="Meiryo"/>
                        </a:rPr>
                        <a:t>−</a:t>
                      </a:r>
                    </a:p>
                  </a:txBody>
                  <a:tcPr marL="76200" marR="50800" marT="12700" marB="12700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BFBFBF"/>
                          </a:solidFill>
                          <a:latin typeface="Meiryo"/>
                          <a:ea typeface="Meiryo"/>
                          <a:cs typeface="Meiryo"/>
                        </a:rPr>
                        <a:t>−</a:t>
                      </a:r>
                    </a:p>
                  </a:txBody>
                  <a:tcPr marL="76200" marR="50800" marT="12700" marB="12700" anchor="ctr">
                    <a:solidFill>
                      <a:srgbClr val="FBF3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3D2E"/>
                          </a:solidFill>
                          <a:latin typeface="Meiryo"/>
                          <a:ea typeface="Meiryo"/>
                          <a:cs typeface="Meiryo"/>
                        </a:rPr>
                        <a:t>○</a:t>
                      </a:r>
                    </a:p>
                  </a:txBody>
                  <a:tcPr marL="76200" marR="50800" marT="12700" marB="12700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A26"/>
                          </a:solidFill>
                          <a:latin typeface="Meiryo"/>
                          <a:ea typeface="Meiryo"/>
                          <a:cs typeface="Meiryo"/>
                        </a:rPr>
                        <a:t>初期費用（目安・税別）</a:t>
                      </a:r>
                    </a:p>
                  </a:txBody>
                  <a:tcPr marL="76200" marR="50800" marT="12700" marB="12700" anchor="ctr">
                    <a:solidFill>
                      <a:srgbClr val="EDF5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2A26"/>
                          </a:solidFill>
                          <a:latin typeface="Meiryo"/>
                          <a:ea typeface="Meiryo"/>
                          <a:cs typeface="Meiryo"/>
                        </a:rPr>
                        <a:t>40〜65万</a:t>
                      </a:r>
                    </a:p>
                  </a:txBody>
                  <a:tcPr marL="76200" marR="50800" marT="12700" marB="12700" anchor="ctr">
                    <a:solidFill>
                      <a:srgbClr val="EDF5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2A26"/>
                          </a:solidFill>
                          <a:latin typeface="Meiryo"/>
                          <a:ea typeface="Meiryo"/>
                          <a:cs typeface="Meiryo"/>
                        </a:rPr>
                        <a:t>90〜120万</a:t>
                      </a:r>
                    </a:p>
                  </a:txBody>
                  <a:tcPr marL="76200" marR="50800" marT="12700" marB="12700" anchor="ctr">
                    <a:solidFill>
                      <a:srgbClr val="FBF3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2A26"/>
                          </a:solidFill>
                          <a:latin typeface="Meiryo"/>
                          <a:ea typeface="Meiryo"/>
                          <a:cs typeface="Meiryo"/>
                        </a:rPr>
                        <a:t>120〜160万</a:t>
                      </a:r>
                    </a:p>
                  </a:txBody>
                  <a:tcPr marL="76200" marR="50800" marT="12700" marB="12700" anchor="ctr">
                    <a:solidFill>
                      <a:srgbClr val="EDF5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A26"/>
                          </a:solidFill>
                          <a:latin typeface="Meiryo"/>
                          <a:ea typeface="Meiryo"/>
                          <a:cs typeface="Meiryo"/>
                        </a:rPr>
                        <a:t>月額（税別）</a:t>
                      </a:r>
                    </a:p>
                  </a:txBody>
                  <a:tcPr marL="76200" marR="50800" marT="12700" marB="12700" anchor="ctr">
                    <a:solidFill>
                      <a:srgbClr val="EDF5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BFBFBF"/>
                          </a:solidFill>
                          <a:latin typeface="Meiryo"/>
                          <a:ea typeface="Meiryo"/>
                          <a:cs typeface="Meiryo"/>
                        </a:rPr>
                        <a:t>−</a:t>
                      </a:r>
                    </a:p>
                  </a:txBody>
                  <a:tcPr marL="76200" marR="50800" marT="12700" marB="12700" anchor="ctr">
                    <a:solidFill>
                      <a:srgbClr val="EDF5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BFBFBF"/>
                          </a:solidFill>
                          <a:latin typeface="Meiryo"/>
                          <a:ea typeface="Meiryo"/>
                          <a:cs typeface="Meiryo"/>
                        </a:rPr>
                        <a:t>−</a:t>
                      </a:r>
                    </a:p>
                  </a:txBody>
                  <a:tcPr marL="76200" marR="50800" marT="12700" marB="12700" anchor="ctr">
                    <a:solidFill>
                      <a:srgbClr val="FBF3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2A26"/>
                          </a:solidFill>
                          <a:latin typeface="Meiryo"/>
                          <a:ea typeface="Meiryo"/>
                          <a:cs typeface="Meiryo"/>
                        </a:rPr>
                        <a:t>15万/月</a:t>
                      </a:r>
                    </a:p>
                  </a:txBody>
                  <a:tcPr marL="76200" marR="50800" marT="12700" marB="12700" anchor="ctr">
                    <a:solidFill>
                      <a:srgbClr val="EDF5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ご提案｜他社との違い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7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なぜ、私たち（アリガトサン）か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216152"/>
            <a:ext cx="2011680" cy="45720"/>
          </a:xfrm>
          <a:prstGeom prst="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54480"/>
            <a:ext cx="3520440" cy="3383280"/>
          </a:xfrm>
          <a:prstGeom prst="roundRect">
            <a:avLst/>
          </a:prstGeom>
          <a:solidFill>
            <a:srgbClr val="FBEEEC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63500" bIns="63500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BFBFBF"/>
                </a:solidFill>
                <a:latin typeface="Meiryo"/>
                <a:ea typeface="Meiryo"/>
                <a:cs typeface="Meiryo"/>
              </a:rPr>
              <a:t>制作会社</a:t>
            </a:r>
          </a:p>
          <a:p>
            <a:pPr algn="ctr">
              <a:spcAft>
                <a:spcPts val="600"/>
              </a:spcAft>
            </a:pPr>
            <a:r>
              <a:rPr sz="1200" b="1">
                <a:solidFill>
                  <a:srgbClr val="1F2A26"/>
                </a:solidFill>
                <a:latin typeface="Meiryo"/>
                <a:ea typeface="Meiryo"/>
                <a:cs typeface="Meiryo"/>
              </a:rPr>
              <a:t>作って終わり</a:t>
            </a:r>
          </a:p>
          <a:p>
            <a:pPr algn="ctr"/>
            <a:r>
              <a:rPr sz="12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・きれいなHPは作る
・でも“その後”は無い
・成果は測らない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0248" y="1554480"/>
            <a:ext cx="3520440" cy="3383280"/>
          </a:xfrm>
          <a:prstGeom prst="roundRect">
            <a:avLst/>
          </a:prstGeom>
          <a:solidFill>
            <a:srgbClr val="FBEEEC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63500" bIns="63500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C0392B"/>
                </a:solidFill>
                <a:latin typeface="Meiryo"/>
                <a:ea typeface="Meiryo"/>
                <a:cs typeface="Meiryo"/>
              </a:rPr>
              <a:t>人材紹介</a:t>
            </a:r>
          </a:p>
          <a:p>
            <a:pPr algn="ctr">
              <a:spcAft>
                <a:spcPts val="600"/>
              </a:spcAft>
            </a:pPr>
            <a:r>
              <a:rPr sz="1200" b="1">
                <a:solidFill>
                  <a:srgbClr val="1F2A26"/>
                </a:solidFill>
                <a:latin typeface="Meiryo"/>
                <a:ea typeface="Meiryo"/>
                <a:cs typeface="Meiryo"/>
              </a:rPr>
              <a:t>人だけ・毎回消える</a:t>
            </a:r>
          </a:p>
          <a:p>
            <a:pPr algn="ctr"/>
            <a:r>
              <a:rPr sz="12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・人は連れてくる
・成功報酬30-35%
・仕組みは残らない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73567" y="1554480"/>
            <a:ext cx="3520440" cy="3383280"/>
          </a:xfrm>
          <a:prstGeom prst="roundRect">
            <a:avLst/>
          </a:prstGeom>
          <a:solidFill>
            <a:srgbClr val="EDF5F0"/>
          </a:solidFill>
          <a:ln w="27940">
            <a:solidFill>
              <a:srgbClr val="0F3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63500" bIns="63500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アリガトサン</a:t>
            </a:r>
          </a:p>
          <a:p>
            <a:pPr algn="ctr">
              <a:spcAft>
                <a:spcPts val="600"/>
              </a:spcAft>
            </a:pPr>
            <a:r>
              <a:rPr sz="1200" b="1">
                <a:solidFill>
                  <a:srgbClr val="1F2A26"/>
                </a:solidFill>
                <a:latin typeface="Meiryo"/>
                <a:ea typeface="Meiryo"/>
                <a:cs typeface="Meiryo"/>
              </a:rPr>
              <a:t>数えて・回して・残す</a:t>
            </a:r>
          </a:p>
          <a:p>
            <a:pPr algn="ctr"/>
            <a:r>
              <a:rPr sz="12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・デザイン×マーケ×営業
　×AI×経営の総合力
・計測して改善し続ける
・仕組みが御社に残る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166360"/>
            <a:ext cx="1097280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御社は既に良い土壌と強いSNSをお持ちです。それを</a:t>
            </a:r>
            <a:r>
              <a:rPr sz="14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“成果に変えて、御社に残す”</a:t>
            </a:r>
            <a:r>
              <a:rPr sz="14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のが私たちの役割です。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ご提案｜Q&amp;A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7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想定されるご懸念に、先にお答えします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216152"/>
            <a:ext cx="2011680" cy="45720"/>
          </a:xfrm>
          <a:prstGeom prst="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08760"/>
            <a:ext cx="3383280" cy="960120"/>
          </a:xfrm>
          <a:prstGeom prst="roundRect">
            <a:avLst/>
          </a:prstGeom>
          <a:solidFill>
            <a:srgbClr val="FBEEEC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300" b="1">
                <a:solidFill>
                  <a:srgbClr val="C0392B"/>
                </a:solidFill>
                <a:latin typeface="Meiryo"/>
                <a:ea typeface="Meiryo"/>
                <a:cs typeface="Meiryo"/>
              </a:rPr>
              <a:t>Q. 「今のままでも回ってる」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508760"/>
            <a:ext cx="7269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5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A. </a:t>
            </a:r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“見えていないだけ”です。計測を入れると、取りこぼしが数字で見えます（前述の試算）。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51760"/>
            <a:ext cx="3383280" cy="960120"/>
          </a:xfrm>
          <a:prstGeom prst="roundRect">
            <a:avLst/>
          </a:prstGeom>
          <a:solidFill>
            <a:srgbClr val="FBEEEC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300" b="1">
                <a:solidFill>
                  <a:srgbClr val="C0392B"/>
                </a:solidFill>
                <a:latin typeface="Meiryo"/>
                <a:ea typeface="Meiryo"/>
                <a:cs typeface="Meiryo"/>
              </a:rPr>
              <a:t>Q. 「高いのでは？」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2651760"/>
            <a:ext cx="7269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5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A. </a:t>
            </a:r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人材紹介なら一度で消える同額が、Cなら資産として残ります。回収も数字で示せます。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3383280" cy="960120"/>
          </a:xfrm>
          <a:prstGeom prst="roundRect">
            <a:avLst/>
          </a:prstGeom>
          <a:solidFill>
            <a:srgbClr val="FBEEEC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300" b="1">
                <a:solidFill>
                  <a:srgbClr val="C0392B"/>
                </a:solidFill>
                <a:latin typeface="Meiryo"/>
                <a:ea typeface="Meiryo"/>
                <a:cs typeface="Meiryo"/>
              </a:rPr>
              <a:t>Q. 「効果が出なかったら？」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3794760"/>
            <a:ext cx="7269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5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A. </a:t>
            </a:r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初月で“何件取れているか”を可視化。Cは3ヶ月で中間レビュー（縮小・停止OK）。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937760"/>
            <a:ext cx="3383280" cy="960120"/>
          </a:xfrm>
          <a:prstGeom prst="roundRect">
            <a:avLst/>
          </a:prstGeom>
          <a:solidFill>
            <a:srgbClr val="FBEEEC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300" b="1">
                <a:solidFill>
                  <a:srgbClr val="C0392B"/>
                </a:solidFill>
                <a:latin typeface="Meiryo"/>
                <a:ea typeface="Meiryo"/>
                <a:cs typeface="Meiryo"/>
              </a:rPr>
              <a:t>Q. 「他社と比べたい」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4937760"/>
            <a:ext cx="7269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5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A. </a:t>
            </a:r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制作会社＝作って終わり／紹介＝人だけ。私たちは数えて回して“残す”点が違います。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ご提案｜進め方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7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おすすめは「B」。ゴールは「C」。でも今日はBだけで充分。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216152"/>
            <a:ext cx="2011680" cy="45720"/>
          </a:xfrm>
          <a:prstGeom prst="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4297680" cy="841248"/>
          </a:xfrm>
          <a:prstGeom prst="roundRect">
            <a:avLst/>
          </a:prstGeom>
          <a:solidFill>
            <a:srgbClr val="FBF3E6"/>
          </a:solidFill>
          <a:ln w="15240">
            <a:solidFill>
              <a:srgbClr val="E8A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4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① B でレジを置く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1554480"/>
            <a:ext cx="63550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“何件取れているか”が初めて数字で見える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14600"/>
            <a:ext cx="4297680" cy="841248"/>
          </a:xfrm>
          <a:prstGeom prst="roundRect">
            <a:avLst/>
          </a:prstGeom>
          <a:solidFill>
            <a:srgbClr val="EDF5F0"/>
          </a:solidFill>
          <a:ln w="15240">
            <a:solidFill>
              <a:srgbClr val="0F3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4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② 数字が次の問いを生む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2514600"/>
            <a:ext cx="63550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「型化したら何件？」「広告を運用に回したら？」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74720"/>
            <a:ext cx="4297680" cy="841248"/>
          </a:xfrm>
          <a:prstGeom prst="roundRect">
            <a:avLst/>
          </a:prstGeom>
          <a:solidFill>
            <a:srgbClr val="EDF5F0"/>
          </a:solidFill>
          <a:ln w="15240">
            <a:solidFill>
              <a:srgbClr val="0F3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4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③ 数字を見てCへ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3474720"/>
            <a:ext cx="63550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必要だと分かってから伸ばす（C前提でBを買う必要なし）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4297680" cy="841248"/>
          </a:xfrm>
          <a:prstGeom prst="roundRect">
            <a:avLst/>
          </a:prstGeom>
          <a:solidFill>
            <a:srgbClr val="EDF5F0"/>
          </a:solidFill>
          <a:ln w="15240">
            <a:solidFill>
              <a:srgbClr val="0F3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4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④ 西宮へ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4434840"/>
            <a:ext cx="63550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回り出した実績が、上の方への最大の説得材料に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532120"/>
            <a:ext cx="108813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押し売りはしません。</a:t>
            </a:r>
            <a:r>
              <a:rPr sz="14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数字が次のステップを連れてきます。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ご提案｜進め方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7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ご契約後の流れと、初月のお約束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216152"/>
            <a:ext cx="2011680" cy="45720"/>
          </a:xfrm>
          <a:prstGeom prst="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2651760" cy="502920"/>
          </a:xfrm>
          <a:prstGeom prst="round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1週目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03120"/>
            <a:ext cx="26517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1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キックオフ・権限確認・ペルソナ確定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91839" y="2606040"/>
            <a:ext cx="146304" cy="365760"/>
          </a:xfrm>
          <a:prstGeom prst="rightArrow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29000" y="1554480"/>
            <a:ext cx="2651760" cy="502920"/>
          </a:xfrm>
          <a:prstGeom prst="round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2-3週目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103120"/>
            <a:ext cx="26517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1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CV計測（レジ）実装・採用LP・LINE開設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080760" y="2606040"/>
            <a:ext cx="146304" cy="365760"/>
          </a:xfrm>
          <a:prstGeom prst="rightArrow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2651760" cy="502920"/>
          </a:xfrm>
          <a:prstGeom prst="round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3-4週目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103120"/>
            <a:ext cx="26517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1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404修正・導線・無料媒体展開／中間確認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69680" y="2606040"/>
            <a:ext cx="146304" cy="365760"/>
          </a:xfrm>
          <a:prstGeom prst="rightArrow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006839" y="1554480"/>
            <a:ext cx="2651760" cy="502920"/>
          </a:xfrm>
          <a:prstGeom prst="round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5-8週目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39" y="2103120"/>
            <a:ext cx="26517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15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スマホ最適化・ダッシュボード納品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840480"/>
            <a:ext cx="10881360" cy="914400"/>
          </a:xfrm>
          <a:prstGeom prst="roundRect">
            <a:avLst/>
          </a:prstGeom>
          <a:solidFill>
            <a:srgbClr val="EDF5F0"/>
          </a:solidFill>
          <a:ln w="17780">
            <a:solidFill>
              <a:srgbClr val="0F3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840480"/>
            <a:ext cx="10881360" cy="914400"/>
          </a:xfrm>
          <a:prstGeom prst="roundRect">
            <a:avLst/>
          </a:prstGeom>
          <a:solidFill>
            <a:srgbClr val="EDF5F0"/>
          </a:solidFill>
          <a:ln w="12700">
            <a:solidFill>
              <a:srgbClr val="0F3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4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初月のお約束：</a:t>
            </a:r>
            <a:r>
              <a:rPr sz="14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「何件取れているか」が数字で見える状態にします（見えなければ計測部分は作り直し）。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937760"/>
            <a:ext cx="108813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プランCは3ヶ月時点で中間レビュー。指標が動かなければ縮小・停止できます（リスクは私たちが取ります）。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NEXT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33272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まず穴を塞いで、“何件取れているか”が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見える状態をつくりましょう。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66160"/>
            <a:ext cx="1033272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E6EFEA"/>
                </a:solidFill>
                <a:latin typeface="Meiryo"/>
                <a:ea typeface="Meiryo"/>
                <a:cs typeface="Meiryo"/>
              </a:rPr>
              <a:t>本日 </a:t>
            </a:r>
            <a:r>
              <a:rPr sz="15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プランB</a:t>
            </a:r>
            <a:r>
              <a:rPr sz="1500" b="0">
                <a:solidFill>
                  <a:srgbClr val="E6EFEA"/>
                </a:solidFill>
                <a:latin typeface="Meiryo"/>
                <a:ea typeface="Meiryo"/>
                <a:cs typeface="Meiryo"/>
              </a:rPr>
              <a:t> でご判断いただければ、来週から計測設置に着手し、</a:t>
            </a:r>
          </a:p>
          <a:p>
            <a:pPr algn="l"/>
            <a:r>
              <a:rPr sz="15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初月末に「最初の数字」</a:t>
            </a:r>
            <a:r>
              <a:rPr sz="1500" b="0">
                <a:solidFill>
                  <a:srgbClr val="E6EFEA"/>
                </a:solidFill>
                <a:latin typeface="Meiryo"/>
                <a:ea typeface="Meiryo"/>
                <a:cs typeface="Meiryo"/>
              </a:rPr>
              <a:t>をお見せします。その先どこまで伸ばすかは、数字を見て一緒に。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120640"/>
            <a:ext cx="5029200" cy="822960"/>
          </a:xfrm>
          <a:prstGeom prst="round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5120640"/>
            <a:ext cx="5029200" cy="822960"/>
          </a:xfrm>
          <a:prstGeom prst="round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8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まずは、Bで第一歩を。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8A100"/>
                </a:solidFill>
                <a:latin typeface="Meiryo"/>
                <a:ea typeface="Meiryo"/>
                <a:cs typeface="Meiryo"/>
              </a:rPr>
              <a:t>APPENDIX｜決裁用サマリー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700" b="1">
                <a:solidFill>
                  <a:srgbClr val="0F3D2E"/>
                </a:solidFill>
                <a:latin typeface="Meiryo"/>
                <a:ea typeface="Meiryo"/>
                <a:cs typeface="Meiryo"/>
              </a:rPr>
              <a:t>【ご参考】上の方へお持ちいただく1枚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216152"/>
            <a:ext cx="2011680" cy="45720"/>
          </a:xfrm>
          <a:prstGeom prst="rect">
            <a:avLst/>
          </a:prstGeom>
          <a:solidFill>
            <a:srgbClr val="E8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8016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山下社長が、上のオーナー様にそのまま見せられる要点1枚です。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2468880" cy="658368"/>
          </a:xfrm>
          <a:prstGeom prst="round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現状の問題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828800"/>
            <a:ext cx="8229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成果(予約/問合せ/入会)の計測ゼロ＋強いSNSがHPに繋がっていない（月25訪問/1.5%）。404が月275回。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60320"/>
            <a:ext cx="2468880" cy="658368"/>
          </a:xfrm>
          <a:prstGeom prst="round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放置のコスト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2560320"/>
            <a:ext cx="8229600" cy="658368"/>
          </a:xfrm>
          <a:prstGeom prst="roundRect">
            <a:avLst/>
          </a:prstGeom>
          <a:solidFill>
            <a:srgbClr val="F7F6F2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機会損失 年 約345万円【仮置き】。広告費も効果不明のまま流出。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91839"/>
            <a:ext cx="2468880" cy="658368"/>
          </a:xfrm>
          <a:prstGeom prst="round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打ち手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3291839"/>
            <a:ext cx="8229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採用（無料媒体中心・人材紹介＝社員1人約90-100万を回避）＋ HPの穴を塞ぎ計測を入れる。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59"/>
            <a:ext cx="2468880" cy="658368"/>
          </a:xfrm>
          <a:prstGeom prst="round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推奨プラン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46120" y="4023359"/>
            <a:ext cx="8229600" cy="658368"/>
          </a:xfrm>
          <a:prstGeom prst="roundRect">
            <a:avLst/>
          </a:prstGeom>
          <a:solidFill>
            <a:srgbClr val="F7F6F2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B＝90〜120万円（単発・目安）。回収 約3〜5ヶ月【仮置き】。本命Cは初期120〜160万＋月15万。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54879"/>
            <a:ext cx="2468880" cy="658368"/>
          </a:xfrm>
          <a:prstGeom prst="round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残る資産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46120" y="4754879"/>
            <a:ext cx="8229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採用の仕組み・HP改善・計測基盤・運用力が社内に残る（来年以降のコストが下がる）。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486399"/>
            <a:ext cx="2468880" cy="658368"/>
          </a:xfrm>
          <a:prstGeom prst="round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ctr"/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出口条件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6120" y="5486399"/>
            <a:ext cx="8229600" cy="658368"/>
          </a:xfrm>
          <a:prstGeom prst="roundRect">
            <a:avLst/>
          </a:prstGeom>
          <a:solidFill>
            <a:srgbClr val="F7F6F2"/>
          </a:solidFill>
          <a:ln w="12700">
            <a:solidFill>
              <a:srgbClr val="E3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/>
            <a:r>
              <a:rPr sz="1200" b="0">
                <a:solidFill>
                  <a:srgbClr val="1F2A26"/>
                </a:solidFill>
                <a:latin typeface="Meiryo"/>
                <a:ea typeface="Meiryo"/>
                <a:cs typeface="Meiryo"/>
              </a:rPr>
              <a:t>初月で成果を可視化。Cは3ヶ月で中間レビュー（縮小・停止可）。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ありがとうございました。</a:t>
            </a:r>
          </a:p>
          <a:p>
            <a:pPr algn="l"/>
            <a:r>
              <a:rPr sz="1500" b="0">
                <a:solidFill>
                  <a:srgbClr val="CFE0D8"/>
                </a:solidFill>
                <a:latin typeface="Meiryo"/>
                <a:ea typeface="Meiryo"/>
                <a:cs typeface="Meiryo"/>
              </a:rPr>
              <a:t>テニスプラザ尼崎さまの“次の一歩”を、全力でご一緒します。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93776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E8A100"/>
                </a:solidFill>
                <a:latin typeface="Meiryo"/>
                <a:ea typeface="Meiryo"/>
                <a:cs typeface="Meiryo"/>
              </a:rPr>
              <a:t>アリガトサン（中田・中村） ／ デザイン × マーケ × 営業 × AI × 経営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テニスプラザ尼崎 ご提案 ／ アリガトサン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5D6B64"/>
                </a:solidFill>
                <a:latin typeface="Meiryo"/>
                <a:ea typeface="Meiryo"/>
                <a:cs typeface="Meiry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